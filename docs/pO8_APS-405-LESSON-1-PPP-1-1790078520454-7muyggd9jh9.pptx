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8" r:id="rId3"/>
    <p:sldId id="284" r:id="rId4"/>
    <p:sldId id="277" r:id="rId5"/>
    <p:sldId id="258" r:id="rId6"/>
    <p:sldId id="285" r:id="rId7"/>
    <p:sldId id="267" r:id="rId8"/>
    <p:sldId id="268" r:id="rId9"/>
    <p:sldId id="269" r:id="rId10"/>
    <p:sldId id="270" r:id="rId11"/>
    <p:sldId id="271" r:id="rId12"/>
    <p:sldId id="259" r:id="rId13"/>
    <p:sldId id="273" r:id="rId14"/>
    <p:sldId id="274" r:id="rId15"/>
    <p:sldId id="260" r:id="rId16"/>
    <p:sldId id="272" r:id="rId17"/>
    <p:sldId id="262" r:id="rId18"/>
  </p:sldIdLst>
  <p:sldSz cx="12192000" cy="6858000"/>
  <p:notesSz cx="6858000" cy="9144000"/>
  <p:defaultText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444"/>
  </p:normalViewPr>
  <p:slideViewPr>
    <p:cSldViewPr snapToGrid="0" snapToObjects="1">
      <p:cViewPr varScale="1">
        <p:scale>
          <a:sx n="102" d="100"/>
          <a:sy n="102" d="100"/>
        </p:scale>
        <p:origin x="95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57069-0385-BA48-8ABD-B16FD2D27FE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KE"/>
          </a:p>
        </p:txBody>
      </p:sp>
      <p:sp>
        <p:nvSpPr>
          <p:cNvPr id="3" name="Subtitle 2">
            <a:extLst>
              <a:ext uri="{FF2B5EF4-FFF2-40B4-BE49-F238E27FC236}">
                <a16:creationId xmlns:a16="http://schemas.microsoft.com/office/drawing/2014/main" id="{2922AF3B-039C-D34C-8D61-91C2EF6B5E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KE"/>
          </a:p>
        </p:txBody>
      </p:sp>
      <p:sp>
        <p:nvSpPr>
          <p:cNvPr id="4" name="Date Placeholder 3">
            <a:extLst>
              <a:ext uri="{FF2B5EF4-FFF2-40B4-BE49-F238E27FC236}">
                <a16:creationId xmlns:a16="http://schemas.microsoft.com/office/drawing/2014/main" id="{90826E06-A225-8A4F-AE53-04E9DF95F3C2}"/>
              </a:ext>
            </a:extLst>
          </p:cNvPr>
          <p:cNvSpPr>
            <a:spLocks noGrp="1"/>
          </p:cNvSpPr>
          <p:nvPr>
            <p:ph type="dt" sz="half" idx="10"/>
          </p:nvPr>
        </p:nvSpPr>
        <p:spPr/>
        <p:txBody>
          <a:bodyPr/>
          <a:lstStyle/>
          <a:p>
            <a:fld id="{FC594DC0-2F2E-5042-98DA-CB6DFD0A1DD0}" type="datetimeFigureOut">
              <a:rPr lang="en-KE" smtClean="0"/>
              <a:t>03/10/2023</a:t>
            </a:fld>
            <a:endParaRPr lang="en-KE"/>
          </a:p>
        </p:txBody>
      </p:sp>
      <p:sp>
        <p:nvSpPr>
          <p:cNvPr id="5" name="Footer Placeholder 4">
            <a:extLst>
              <a:ext uri="{FF2B5EF4-FFF2-40B4-BE49-F238E27FC236}">
                <a16:creationId xmlns:a16="http://schemas.microsoft.com/office/drawing/2014/main" id="{F5D4AB4A-5374-BF43-A70A-1ACC6DF0BA71}"/>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72481B9E-EE53-F14A-BB09-64B6CCDE1DCB}"/>
              </a:ext>
            </a:extLst>
          </p:cNvPr>
          <p:cNvSpPr>
            <a:spLocks noGrp="1"/>
          </p:cNvSpPr>
          <p:nvPr>
            <p:ph type="sldNum" sz="quarter" idx="12"/>
          </p:nvPr>
        </p:nvSpPr>
        <p:spPr/>
        <p:txBody>
          <a:bodyPr/>
          <a:lstStyle/>
          <a:p>
            <a:fld id="{62449CD7-1D17-8346-B5C0-1DAE226986B6}" type="slidenum">
              <a:rPr lang="en-KE" smtClean="0"/>
              <a:t>‹#›</a:t>
            </a:fld>
            <a:endParaRPr lang="en-KE"/>
          </a:p>
        </p:txBody>
      </p:sp>
    </p:spTree>
    <p:extLst>
      <p:ext uri="{BB962C8B-B14F-4D97-AF65-F5344CB8AC3E}">
        <p14:creationId xmlns:p14="http://schemas.microsoft.com/office/powerpoint/2010/main" val="3372179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DCDE3-97BD-354E-9F21-377422A960A5}"/>
              </a:ext>
            </a:extLst>
          </p:cNvPr>
          <p:cNvSpPr>
            <a:spLocks noGrp="1"/>
          </p:cNvSpPr>
          <p:nvPr>
            <p:ph type="title"/>
          </p:nvPr>
        </p:nvSpPr>
        <p:spPr/>
        <p:txBody>
          <a:bodyPr/>
          <a:lstStyle/>
          <a:p>
            <a:r>
              <a:rPr lang="en-GB"/>
              <a:t>Click to edit Master title style</a:t>
            </a:r>
            <a:endParaRPr lang="en-KE"/>
          </a:p>
        </p:txBody>
      </p:sp>
      <p:sp>
        <p:nvSpPr>
          <p:cNvPr id="3" name="Content Placeholder 2">
            <a:extLst>
              <a:ext uri="{FF2B5EF4-FFF2-40B4-BE49-F238E27FC236}">
                <a16:creationId xmlns:a16="http://schemas.microsoft.com/office/drawing/2014/main" id="{4641D498-A939-5740-9872-76737B250D4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4" name="Date Placeholder 3">
            <a:extLst>
              <a:ext uri="{FF2B5EF4-FFF2-40B4-BE49-F238E27FC236}">
                <a16:creationId xmlns:a16="http://schemas.microsoft.com/office/drawing/2014/main" id="{514DEFC3-11C2-E14D-913F-51589483689F}"/>
              </a:ext>
            </a:extLst>
          </p:cNvPr>
          <p:cNvSpPr>
            <a:spLocks noGrp="1"/>
          </p:cNvSpPr>
          <p:nvPr>
            <p:ph type="dt" sz="half" idx="10"/>
          </p:nvPr>
        </p:nvSpPr>
        <p:spPr/>
        <p:txBody>
          <a:bodyPr/>
          <a:lstStyle/>
          <a:p>
            <a:fld id="{FC594DC0-2F2E-5042-98DA-CB6DFD0A1DD0}" type="datetimeFigureOut">
              <a:rPr lang="en-KE" smtClean="0"/>
              <a:t>03/10/2023</a:t>
            </a:fld>
            <a:endParaRPr lang="en-KE"/>
          </a:p>
        </p:txBody>
      </p:sp>
      <p:sp>
        <p:nvSpPr>
          <p:cNvPr id="5" name="Footer Placeholder 4">
            <a:extLst>
              <a:ext uri="{FF2B5EF4-FFF2-40B4-BE49-F238E27FC236}">
                <a16:creationId xmlns:a16="http://schemas.microsoft.com/office/drawing/2014/main" id="{28CBEA6C-1913-A144-AEFD-AC47ACDEE143}"/>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8D150188-1C28-7744-91FC-D091D2B64347}"/>
              </a:ext>
            </a:extLst>
          </p:cNvPr>
          <p:cNvSpPr>
            <a:spLocks noGrp="1"/>
          </p:cNvSpPr>
          <p:nvPr>
            <p:ph type="sldNum" sz="quarter" idx="12"/>
          </p:nvPr>
        </p:nvSpPr>
        <p:spPr/>
        <p:txBody>
          <a:bodyPr/>
          <a:lstStyle/>
          <a:p>
            <a:fld id="{62449CD7-1D17-8346-B5C0-1DAE226986B6}" type="slidenum">
              <a:rPr lang="en-KE" smtClean="0"/>
              <a:t>‹#›</a:t>
            </a:fld>
            <a:endParaRPr lang="en-KE"/>
          </a:p>
        </p:txBody>
      </p:sp>
    </p:spTree>
    <p:extLst>
      <p:ext uri="{BB962C8B-B14F-4D97-AF65-F5344CB8AC3E}">
        <p14:creationId xmlns:p14="http://schemas.microsoft.com/office/powerpoint/2010/main" val="2109438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3C8AB-96A3-E741-A94B-D4BE047F615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KE"/>
          </a:p>
        </p:txBody>
      </p:sp>
      <p:sp>
        <p:nvSpPr>
          <p:cNvPr id="3" name="Text Placeholder 2">
            <a:extLst>
              <a:ext uri="{FF2B5EF4-FFF2-40B4-BE49-F238E27FC236}">
                <a16:creationId xmlns:a16="http://schemas.microsoft.com/office/drawing/2014/main" id="{05138F4D-4CB3-DA4A-9E91-BE81036C2E6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CB81F03-CBB4-D74A-8ABD-B90CFCE32131}"/>
              </a:ext>
            </a:extLst>
          </p:cNvPr>
          <p:cNvSpPr>
            <a:spLocks noGrp="1"/>
          </p:cNvSpPr>
          <p:nvPr>
            <p:ph type="dt" sz="half" idx="10"/>
          </p:nvPr>
        </p:nvSpPr>
        <p:spPr/>
        <p:txBody>
          <a:bodyPr/>
          <a:lstStyle/>
          <a:p>
            <a:fld id="{FC594DC0-2F2E-5042-98DA-CB6DFD0A1DD0}" type="datetimeFigureOut">
              <a:rPr lang="en-KE" smtClean="0"/>
              <a:t>03/10/2023</a:t>
            </a:fld>
            <a:endParaRPr lang="en-KE"/>
          </a:p>
        </p:txBody>
      </p:sp>
      <p:sp>
        <p:nvSpPr>
          <p:cNvPr id="5" name="Footer Placeholder 4">
            <a:extLst>
              <a:ext uri="{FF2B5EF4-FFF2-40B4-BE49-F238E27FC236}">
                <a16:creationId xmlns:a16="http://schemas.microsoft.com/office/drawing/2014/main" id="{49ACD472-2F08-E048-AB29-3500D2E5322D}"/>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D968B62D-12A9-484C-B387-2ACBB9B0C5C0}"/>
              </a:ext>
            </a:extLst>
          </p:cNvPr>
          <p:cNvSpPr>
            <a:spLocks noGrp="1"/>
          </p:cNvSpPr>
          <p:nvPr>
            <p:ph type="sldNum" sz="quarter" idx="12"/>
          </p:nvPr>
        </p:nvSpPr>
        <p:spPr/>
        <p:txBody>
          <a:bodyPr/>
          <a:lstStyle/>
          <a:p>
            <a:fld id="{62449CD7-1D17-8346-B5C0-1DAE226986B6}" type="slidenum">
              <a:rPr lang="en-KE" smtClean="0"/>
              <a:t>‹#›</a:t>
            </a:fld>
            <a:endParaRPr lang="en-KE"/>
          </a:p>
        </p:txBody>
      </p:sp>
    </p:spTree>
    <p:extLst>
      <p:ext uri="{BB962C8B-B14F-4D97-AF65-F5344CB8AC3E}">
        <p14:creationId xmlns:p14="http://schemas.microsoft.com/office/powerpoint/2010/main" val="1026887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1C844-8055-4147-8E53-EB595D142CF9}"/>
              </a:ext>
            </a:extLst>
          </p:cNvPr>
          <p:cNvSpPr>
            <a:spLocks noGrp="1"/>
          </p:cNvSpPr>
          <p:nvPr>
            <p:ph type="title"/>
          </p:nvPr>
        </p:nvSpPr>
        <p:spPr/>
        <p:txBody>
          <a:bodyPr/>
          <a:lstStyle/>
          <a:p>
            <a:r>
              <a:rPr lang="en-GB"/>
              <a:t>Click to edit Master title style</a:t>
            </a:r>
            <a:endParaRPr lang="en-KE"/>
          </a:p>
        </p:txBody>
      </p:sp>
      <p:sp>
        <p:nvSpPr>
          <p:cNvPr id="3" name="Content Placeholder 2">
            <a:extLst>
              <a:ext uri="{FF2B5EF4-FFF2-40B4-BE49-F238E27FC236}">
                <a16:creationId xmlns:a16="http://schemas.microsoft.com/office/drawing/2014/main" id="{365357DE-C5ED-0E46-BAC9-79E5B5586F7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4" name="Content Placeholder 3">
            <a:extLst>
              <a:ext uri="{FF2B5EF4-FFF2-40B4-BE49-F238E27FC236}">
                <a16:creationId xmlns:a16="http://schemas.microsoft.com/office/drawing/2014/main" id="{60A49744-99A7-D247-9A52-DF5E4357980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5" name="Date Placeholder 4">
            <a:extLst>
              <a:ext uri="{FF2B5EF4-FFF2-40B4-BE49-F238E27FC236}">
                <a16:creationId xmlns:a16="http://schemas.microsoft.com/office/drawing/2014/main" id="{51315F74-678E-CC42-AA22-F55BAA8535D4}"/>
              </a:ext>
            </a:extLst>
          </p:cNvPr>
          <p:cNvSpPr>
            <a:spLocks noGrp="1"/>
          </p:cNvSpPr>
          <p:nvPr>
            <p:ph type="dt" sz="half" idx="10"/>
          </p:nvPr>
        </p:nvSpPr>
        <p:spPr/>
        <p:txBody>
          <a:bodyPr/>
          <a:lstStyle/>
          <a:p>
            <a:fld id="{FC594DC0-2F2E-5042-98DA-CB6DFD0A1DD0}" type="datetimeFigureOut">
              <a:rPr lang="en-KE" smtClean="0"/>
              <a:t>03/10/2023</a:t>
            </a:fld>
            <a:endParaRPr lang="en-KE"/>
          </a:p>
        </p:txBody>
      </p:sp>
      <p:sp>
        <p:nvSpPr>
          <p:cNvPr id="6" name="Footer Placeholder 5">
            <a:extLst>
              <a:ext uri="{FF2B5EF4-FFF2-40B4-BE49-F238E27FC236}">
                <a16:creationId xmlns:a16="http://schemas.microsoft.com/office/drawing/2014/main" id="{5BC63378-5704-1F4A-B341-B4120A8B16D9}"/>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E4C73F2D-C1AF-8D4B-A522-EA6382AC516C}"/>
              </a:ext>
            </a:extLst>
          </p:cNvPr>
          <p:cNvSpPr>
            <a:spLocks noGrp="1"/>
          </p:cNvSpPr>
          <p:nvPr>
            <p:ph type="sldNum" sz="quarter" idx="12"/>
          </p:nvPr>
        </p:nvSpPr>
        <p:spPr/>
        <p:txBody>
          <a:bodyPr/>
          <a:lstStyle/>
          <a:p>
            <a:fld id="{62449CD7-1D17-8346-B5C0-1DAE226986B6}" type="slidenum">
              <a:rPr lang="en-KE" smtClean="0"/>
              <a:t>‹#›</a:t>
            </a:fld>
            <a:endParaRPr lang="en-KE"/>
          </a:p>
        </p:txBody>
      </p:sp>
    </p:spTree>
    <p:extLst>
      <p:ext uri="{BB962C8B-B14F-4D97-AF65-F5344CB8AC3E}">
        <p14:creationId xmlns:p14="http://schemas.microsoft.com/office/powerpoint/2010/main" val="1763664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863AF-F998-084F-8357-CBCD6EE2015B}"/>
              </a:ext>
            </a:extLst>
          </p:cNvPr>
          <p:cNvSpPr>
            <a:spLocks noGrp="1"/>
          </p:cNvSpPr>
          <p:nvPr>
            <p:ph type="title"/>
          </p:nvPr>
        </p:nvSpPr>
        <p:spPr>
          <a:xfrm>
            <a:off x="839788" y="365125"/>
            <a:ext cx="10515600" cy="1325563"/>
          </a:xfrm>
        </p:spPr>
        <p:txBody>
          <a:bodyPr/>
          <a:lstStyle/>
          <a:p>
            <a:r>
              <a:rPr lang="en-GB"/>
              <a:t>Click to edit Master title style</a:t>
            </a:r>
            <a:endParaRPr lang="en-KE"/>
          </a:p>
        </p:txBody>
      </p:sp>
      <p:sp>
        <p:nvSpPr>
          <p:cNvPr id="3" name="Text Placeholder 2">
            <a:extLst>
              <a:ext uri="{FF2B5EF4-FFF2-40B4-BE49-F238E27FC236}">
                <a16:creationId xmlns:a16="http://schemas.microsoft.com/office/drawing/2014/main" id="{2A801C5F-FAA8-4D42-8A0F-605C652A32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F5CD855-5DA0-274F-8683-DA73DF10B31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5" name="Text Placeholder 4">
            <a:extLst>
              <a:ext uri="{FF2B5EF4-FFF2-40B4-BE49-F238E27FC236}">
                <a16:creationId xmlns:a16="http://schemas.microsoft.com/office/drawing/2014/main" id="{FBCEB97B-E92F-9244-9F7D-E9ECCB52D6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80AC619-367E-3845-95F7-6A4308026E9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7" name="Date Placeholder 6">
            <a:extLst>
              <a:ext uri="{FF2B5EF4-FFF2-40B4-BE49-F238E27FC236}">
                <a16:creationId xmlns:a16="http://schemas.microsoft.com/office/drawing/2014/main" id="{7ABE38CC-F44E-AA4B-AC78-B2F9376CD287}"/>
              </a:ext>
            </a:extLst>
          </p:cNvPr>
          <p:cNvSpPr>
            <a:spLocks noGrp="1"/>
          </p:cNvSpPr>
          <p:nvPr>
            <p:ph type="dt" sz="half" idx="10"/>
          </p:nvPr>
        </p:nvSpPr>
        <p:spPr/>
        <p:txBody>
          <a:bodyPr/>
          <a:lstStyle/>
          <a:p>
            <a:fld id="{FC594DC0-2F2E-5042-98DA-CB6DFD0A1DD0}" type="datetimeFigureOut">
              <a:rPr lang="en-KE" smtClean="0"/>
              <a:t>03/10/2023</a:t>
            </a:fld>
            <a:endParaRPr lang="en-KE"/>
          </a:p>
        </p:txBody>
      </p:sp>
      <p:sp>
        <p:nvSpPr>
          <p:cNvPr id="8" name="Footer Placeholder 7">
            <a:extLst>
              <a:ext uri="{FF2B5EF4-FFF2-40B4-BE49-F238E27FC236}">
                <a16:creationId xmlns:a16="http://schemas.microsoft.com/office/drawing/2014/main" id="{460DEAA2-4BA6-BA47-BF28-FA1F1D87587A}"/>
              </a:ext>
            </a:extLst>
          </p:cNvPr>
          <p:cNvSpPr>
            <a:spLocks noGrp="1"/>
          </p:cNvSpPr>
          <p:nvPr>
            <p:ph type="ftr" sz="quarter" idx="11"/>
          </p:nvPr>
        </p:nvSpPr>
        <p:spPr/>
        <p:txBody>
          <a:bodyPr/>
          <a:lstStyle/>
          <a:p>
            <a:endParaRPr lang="en-KE"/>
          </a:p>
        </p:txBody>
      </p:sp>
      <p:sp>
        <p:nvSpPr>
          <p:cNvPr id="9" name="Slide Number Placeholder 8">
            <a:extLst>
              <a:ext uri="{FF2B5EF4-FFF2-40B4-BE49-F238E27FC236}">
                <a16:creationId xmlns:a16="http://schemas.microsoft.com/office/drawing/2014/main" id="{19C7BCE3-B449-B640-AB8C-32FDE437CDD7}"/>
              </a:ext>
            </a:extLst>
          </p:cNvPr>
          <p:cNvSpPr>
            <a:spLocks noGrp="1"/>
          </p:cNvSpPr>
          <p:nvPr>
            <p:ph type="sldNum" sz="quarter" idx="12"/>
          </p:nvPr>
        </p:nvSpPr>
        <p:spPr/>
        <p:txBody>
          <a:bodyPr/>
          <a:lstStyle/>
          <a:p>
            <a:fld id="{62449CD7-1D17-8346-B5C0-1DAE226986B6}" type="slidenum">
              <a:rPr lang="en-KE" smtClean="0"/>
              <a:t>‹#›</a:t>
            </a:fld>
            <a:endParaRPr lang="en-KE"/>
          </a:p>
        </p:txBody>
      </p:sp>
    </p:spTree>
    <p:extLst>
      <p:ext uri="{BB962C8B-B14F-4D97-AF65-F5344CB8AC3E}">
        <p14:creationId xmlns:p14="http://schemas.microsoft.com/office/powerpoint/2010/main" val="205926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1058F-F82E-974B-B9F3-EE9A710B7BA7}"/>
              </a:ext>
            </a:extLst>
          </p:cNvPr>
          <p:cNvSpPr>
            <a:spLocks noGrp="1"/>
          </p:cNvSpPr>
          <p:nvPr>
            <p:ph type="title"/>
          </p:nvPr>
        </p:nvSpPr>
        <p:spPr/>
        <p:txBody>
          <a:bodyPr/>
          <a:lstStyle/>
          <a:p>
            <a:r>
              <a:rPr lang="en-GB"/>
              <a:t>Click to edit Master title style</a:t>
            </a:r>
            <a:endParaRPr lang="en-KE"/>
          </a:p>
        </p:txBody>
      </p:sp>
      <p:sp>
        <p:nvSpPr>
          <p:cNvPr id="3" name="Date Placeholder 2">
            <a:extLst>
              <a:ext uri="{FF2B5EF4-FFF2-40B4-BE49-F238E27FC236}">
                <a16:creationId xmlns:a16="http://schemas.microsoft.com/office/drawing/2014/main" id="{B04626D5-2FAA-1445-BE02-78DD9A44FEBB}"/>
              </a:ext>
            </a:extLst>
          </p:cNvPr>
          <p:cNvSpPr>
            <a:spLocks noGrp="1"/>
          </p:cNvSpPr>
          <p:nvPr>
            <p:ph type="dt" sz="half" idx="10"/>
          </p:nvPr>
        </p:nvSpPr>
        <p:spPr/>
        <p:txBody>
          <a:bodyPr/>
          <a:lstStyle/>
          <a:p>
            <a:fld id="{FC594DC0-2F2E-5042-98DA-CB6DFD0A1DD0}" type="datetimeFigureOut">
              <a:rPr lang="en-KE" smtClean="0"/>
              <a:t>03/10/2023</a:t>
            </a:fld>
            <a:endParaRPr lang="en-KE"/>
          </a:p>
        </p:txBody>
      </p:sp>
      <p:sp>
        <p:nvSpPr>
          <p:cNvPr id="4" name="Footer Placeholder 3">
            <a:extLst>
              <a:ext uri="{FF2B5EF4-FFF2-40B4-BE49-F238E27FC236}">
                <a16:creationId xmlns:a16="http://schemas.microsoft.com/office/drawing/2014/main" id="{960A067B-425F-8F45-BFC8-D7234475C593}"/>
              </a:ext>
            </a:extLst>
          </p:cNvPr>
          <p:cNvSpPr>
            <a:spLocks noGrp="1"/>
          </p:cNvSpPr>
          <p:nvPr>
            <p:ph type="ftr" sz="quarter" idx="11"/>
          </p:nvPr>
        </p:nvSpPr>
        <p:spPr/>
        <p:txBody>
          <a:bodyPr/>
          <a:lstStyle/>
          <a:p>
            <a:endParaRPr lang="en-KE"/>
          </a:p>
        </p:txBody>
      </p:sp>
      <p:sp>
        <p:nvSpPr>
          <p:cNvPr id="5" name="Slide Number Placeholder 4">
            <a:extLst>
              <a:ext uri="{FF2B5EF4-FFF2-40B4-BE49-F238E27FC236}">
                <a16:creationId xmlns:a16="http://schemas.microsoft.com/office/drawing/2014/main" id="{80C62364-8490-C149-808D-696F35B554BA}"/>
              </a:ext>
            </a:extLst>
          </p:cNvPr>
          <p:cNvSpPr>
            <a:spLocks noGrp="1"/>
          </p:cNvSpPr>
          <p:nvPr>
            <p:ph type="sldNum" sz="quarter" idx="12"/>
          </p:nvPr>
        </p:nvSpPr>
        <p:spPr/>
        <p:txBody>
          <a:bodyPr/>
          <a:lstStyle/>
          <a:p>
            <a:fld id="{62449CD7-1D17-8346-B5C0-1DAE226986B6}" type="slidenum">
              <a:rPr lang="en-KE" smtClean="0"/>
              <a:t>‹#›</a:t>
            </a:fld>
            <a:endParaRPr lang="en-KE"/>
          </a:p>
        </p:txBody>
      </p:sp>
    </p:spTree>
    <p:extLst>
      <p:ext uri="{BB962C8B-B14F-4D97-AF65-F5344CB8AC3E}">
        <p14:creationId xmlns:p14="http://schemas.microsoft.com/office/powerpoint/2010/main" val="1627978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C7DE31-134C-2046-8625-5F52FFDFEDE2}"/>
              </a:ext>
            </a:extLst>
          </p:cNvPr>
          <p:cNvSpPr>
            <a:spLocks noGrp="1"/>
          </p:cNvSpPr>
          <p:nvPr>
            <p:ph type="dt" sz="half" idx="10"/>
          </p:nvPr>
        </p:nvSpPr>
        <p:spPr/>
        <p:txBody>
          <a:bodyPr/>
          <a:lstStyle/>
          <a:p>
            <a:fld id="{FC594DC0-2F2E-5042-98DA-CB6DFD0A1DD0}" type="datetimeFigureOut">
              <a:rPr lang="en-KE" smtClean="0"/>
              <a:t>03/10/2023</a:t>
            </a:fld>
            <a:endParaRPr lang="en-KE"/>
          </a:p>
        </p:txBody>
      </p:sp>
      <p:sp>
        <p:nvSpPr>
          <p:cNvPr id="3" name="Footer Placeholder 2">
            <a:extLst>
              <a:ext uri="{FF2B5EF4-FFF2-40B4-BE49-F238E27FC236}">
                <a16:creationId xmlns:a16="http://schemas.microsoft.com/office/drawing/2014/main" id="{C371F4CB-6ECA-4447-923F-9E47AA50D580}"/>
              </a:ext>
            </a:extLst>
          </p:cNvPr>
          <p:cNvSpPr>
            <a:spLocks noGrp="1"/>
          </p:cNvSpPr>
          <p:nvPr>
            <p:ph type="ftr" sz="quarter" idx="11"/>
          </p:nvPr>
        </p:nvSpPr>
        <p:spPr/>
        <p:txBody>
          <a:bodyPr/>
          <a:lstStyle/>
          <a:p>
            <a:endParaRPr lang="en-KE"/>
          </a:p>
        </p:txBody>
      </p:sp>
      <p:sp>
        <p:nvSpPr>
          <p:cNvPr id="4" name="Slide Number Placeholder 3">
            <a:extLst>
              <a:ext uri="{FF2B5EF4-FFF2-40B4-BE49-F238E27FC236}">
                <a16:creationId xmlns:a16="http://schemas.microsoft.com/office/drawing/2014/main" id="{58C0EE5E-12D5-4E49-9C9D-15D7B0AE87E1}"/>
              </a:ext>
            </a:extLst>
          </p:cNvPr>
          <p:cNvSpPr>
            <a:spLocks noGrp="1"/>
          </p:cNvSpPr>
          <p:nvPr>
            <p:ph type="sldNum" sz="quarter" idx="12"/>
          </p:nvPr>
        </p:nvSpPr>
        <p:spPr/>
        <p:txBody>
          <a:bodyPr/>
          <a:lstStyle/>
          <a:p>
            <a:fld id="{62449CD7-1D17-8346-B5C0-1DAE226986B6}" type="slidenum">
              <a:rPr lang="en-KE" smtClean="0"/>
              <a:t>‹#›</a:t>
            </a:fld>
            <a:endParaRPr lang="en-KE"/>
          </a:p>
        </p:txBody>
      </p:sp>
    </p:spTree>
    <p:extLst>
      <p:ext uri="{BB962C8B-B14F-4D97-AF65-F5344CB8AC3E}">
        <p14:creationId xmlns:p14="http://schemas.microsoft.com/office/powerpoint/2010/main" val="829500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43008-22EC-604F-9B61-82CD857867B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KE"/>
          </a:p>
        </p:txBody>
      </p:sp>
      <p:sp>
        <p:nvSpPr>
          <p:cNvPr id="3" name="Content Placeholder 2">
            <a:extLst>
              <a:ext uri="{FF2B5EF4-FFF2-40B4-BE49-F238E27FC236}">
                <a16:creationId xmlns:a16="http://schemas.microsoft.com/office/drawing/2014/main" id="{21C3E91C-7C6B-B244-B13E-CE22E19FE9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4" name="Text Placeholder 3">
            <a:extLst>
              <a:ext uri="{FF2B5EF4-FFF2-40B4-BE49-F238E27FC236}">
                <a16:creationId xmlns:a16="http://schemas.microsoft.com/office/drawing/2014/main" id="{1CF8193B-20E4-3B4E-875C-C7CF18172E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ED5636B-97A3-BF40-81F4-38B61CB4604C}"/>
              </a:ext>
            </a:extLst>
          </p:cNvPr>
          <p:cNvSpPr>
            <a:spLocks noGrp="1"/>
          </p:cNvSpPr>
          <p:nvPr>
            <p:ph type="dt" sz="half" idx="10"/>
          </p:nvPr>
        </p:nvSpPr>
        <p:spPr/>
        <p:txBody>
          <a:bodyPr/>
          <a:lstStyle/>
          <a:p>
            <a:fld id="{FC594DC0-2F2E-5042-98DA-CB6DFD0A1DD0}" type="datetimeFigureOut">
              <a:rPr lang="en-KE" smtClean="0"/>
              <a:t>03/10/2023</a:t>
            </a:fld>
            <a:endParaRPr lang="en-KE"/>
          </a:p>
        </p:txBody>
      </p:sp>
      <p:sp>
        <p:nvSpPr>
          <p:cNvPr id="6" name="Footer Placeholder 5">
            <a:extLst>
              <a:ext uri="{FF2B5EF4-FFF2-40B4-BE49-F238E27FC236}">
                <a16:creationId xmlns:a16="http://schemas.microsoft.com/office/drawing/2014/main" id="{C905BE20-3221-D84B-866B-0B7D1D99C375}"/>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45B283BE-866C-5446-9A8A-AD87BF0D06C2}"/>
              </a:ext>
            </a:extLst>
          </p:cNvPr>
          <p:cNvSpPr>
            <a:spLocks noGrp="1"/>
          </p:cNvSpPr>
          <p:nvPr>
            <p:ph type="sldNum" sz="quarter" idx="12"/>
          </p:nvPr>
        </p:nvSpPr>
        <p:spPr/>
        <p:txBody>
          <a:bodyPr/>
          <a:lstStyle/>
          <a:p>
            <a:fld id="{62449CD7-1D17-8346-B5C0-1DAE226986B6}" type="slidenum">
              <a:rPr lang="en-KE" smtClean="0"/>
              <a:t>‹#›</a:t>
            </a:fld>
            <a:endParaRPr lang="en-KE"/>
          </a:p>
        </p:txBody>
      </p:sp>
    </p:spTree>
    <p:extLst>
      <p:ext uri="{BB962C8B-B14F-4D97-AF65-F5344CB8AC3E}">
        <p14:creationId xmlns:p14="http://schemas.microsoft.com/office/powerpoint/2010/main" val="40314766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D18C6-8154-794D-A1CD-E1ECABD6B73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KE"/>
          </a:p>
        </p:txBody>
      </p:sp>
      <p:sp>
        <p:nvSpPr>
          <p:cNvPr id="3" name="Picture Placeholder 2">
            <a:extLst>
              <a:ext uri="{FF2B5EF4-FFF2-40B4-BE49-F238E27FC236}">
                <a16:creationId xmlns:a16="http://schemas.microsoft.com/office/drawing/2014/main" id="{FD1E51B5-AB28-EF45-9F0D-D0641F041F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KE"/>
          </a:p>
        </p:txBody>
      </p:sp>
      <p:sp>
        <p:nvSpPr>
          <p:cNvPr id="4" name="Text Placeholder 3">
            <a:extLst>
              <a:ext uri="{FF2B5EF4-FFF2-40B4-BE49-F238E27FC236}">
                <a16:creationId xmlns:a16="http://schemas.microsoft.com/office/drawing/2014/main" id="{E490E70D-2C73-E141-8756-4EBB2FA550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2D910D5-45C0-964B-B857-479806CF52C6}"/>
              </a:ext>
            </a:extLst>
          </p:cNvPr>
          <p:cNvSpPr>
            <a:spLocks noGrp="1"/>
          </p:cNvSpPr>
          <p:nvPr>
            <p:ph type="dt" sz="half" idx="10"/>
          </p:nvPr>
        </p:nvSpPr>
        <p:spPr/>
        <p:txBody>
          <a:bodyPr/>
          <a:lstStyle/>
          <a:p>
            <a:fld id="{FC594DC0-2F2E-5042-98DA-CB6DFD0A1DD0}" type="datetimeFigureOut">
              <a:rPr lang="en-KE" smtClean="0"/>
              <a:t>03/10/2023</a:t>
            </a:fld>
            <a:endParaRPr lang="en-KE"/>
          </a:p>
        </p:txBody>
      </p:sp>
      <p:sp>
        <p:nvSpPr>
          <p:cNvPr id="6" name="Footer Placeholder 5">
            <a:extLst>
              <a:ext uri="{FF2B5EF4-FFF2-40B4-BE49-F238E27FC236}">
                <a16:creationId xmlns:a16="http://schemas.microsoft.com/office/drawing/2014/main" id="{AFD39CD3-EF1F-984A-A928-1086E1D8AAB7}"/>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941A935E-404F-4346-955A-692D7F7E2A6A}"/>
              </a:ext>
            </a:extLst>
          </p:cNvPr>
          <p:cNvSpPr>
            <a:spLocks noGrp="1"/>
          </p:cNvSpPr>
          <p:nvPr>
            <p:ph type="sldNum" sz="quarter" idx="12"/>
          </p:nvPr>
        </p:nvSpPr>
        <p:spPr/>
        <p:txBody>
          <a:bodyPr/>
          <a:lstStyle/>
          <a:p>
            <a:fld id="{62449CD7-1D17-8346-B5C0-1DAE226986B6}" type="slidenum">
              <a:rPr lang="en-KE" smtClean="0"/>
              <a:t>‹#›</a:t>
            </a:fld>
            <a:endParaRPr lang="en-KE"/>
          </a:p>
        </p:txBody>
      </p:sp>
    </p:spTree>
    <p:extLst>
      <p:ext uri="{BB962C8B-B14F-4D97-AF65-F5344CB8AC3E}">
        <p14:creationId xmlns:p14="http://schemas.microsoft.com/office/powerpoint/2010/main" val="3477060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0FD9A-95F3-8A49-BBEF-F3F606C02518}"/>
              </a:ext>
            </a:extLst>
          </p:cNvPr>
          <p:cNvSpPr>
            <a:spLocks noGrp="1"/>
          </p:cNvSpPr>
          <p:nvPr>
            <p:ph type="title"/>
          </p:nvPr>
        </p:nvSpPr>
        <p:spPr/>
        <p:txBody>
          <a:bodyPr/>
          <a:lstStyle/>
          <a:p>
            <a:r>
              <a:rPr lang="en-GB"/>
              <a:t>Click to edit Master title style</a:t>
            </a:r>
            <a:endParaRPr lang="en-KE"/>
          </a:p>
        </p:txBody>
      </p:sp>
      <p:sp>
        <p:nvSpPr>
          <p:cNvPr id="3" name="Vertical Text Placeholder 2">
            <a:extLst>
              <a:ext uri="{FF2B5EF4-FFF2-40B4-BE49-F238E27FC236}">
                <a16:creationId xmlns:a16="http://schemas.microsoft.com/office/drawing/2014/main" id="{6EE3A938-289A-9E44-BA10-9AE88177984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4" name="Date Placeholder 3">
            <a:extLst>
              <a:ext uri="{FF2B5EF4-FFF2-40B4-BE49-F238E27FC236}">
                <a16:creationId xmlns:a16="http://schemas.microsoft.com/office/drawing/2014/main" id="{C110ACC8-E826-4C48-8EA7-5A2B26AEA35E}"/>
              </a:ext>
            </a:extLst>
          </p:cNvPr>
          <p:cNvSpPr>
            <a:spLocks noGrp="1"/>
          </p:cNvSpPr>
          <p:nvPr>
            <p:ph type="dt" sz="half" idx="10"/>
          </p:nvPr>
        </p:nvSpPr>
        <p:spPr/>
        <p:txBody>
          <a:bodyPr/>
          <a:lstStyle/>
          <a:p>
            <a:fld id="{FC594DC0-2F2E-5042-98DA-CB6DFD0A1DD0}" type="datetimeFigureOut">
              <a:rPr lang="en-KE" smtClean="0"/>
              <a:t>03/10/2023</a:t>
            </a:fld>
            <a:endParaRPr lang="en-KE"/>
          </a:p>
        </p:txBody>
      </p:sp>
      <p:sp>
        <p:nvSpPr>
          <p:cNvPr id="5" name="Footer Placeholder 4">
            <a:extLst>
              <a:ext uri="{FF2B5EF4-FFF2-40B4-BE49-F238E27FC236}">
                <a16:creationId xmlns:a16="http://schemas.microsoft.com/office/drawing/2014/main" id="{0DA77F54-2B9A-2A45-A5B8-C0C48EAA8717}"/>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8CF5B663-E219-5C4C-B88F-6F8D74F482DC}"/>
              </a:ext>
            </a:extLst>
          </p:cNvPr>
          <p:cNvSpPr>
            <a:spLocks noGrp="1"/>
          </p:cNvSpPr>
          <p:nvPr>
            <p:ph type="sldNum" sz="quarter" idx="12"/>
          </p:nvPr>
        </p:nvSpPr>
        <p:spPr/>
        <p:txBody>
          <a:bodyPr/>
          <a:lstStyle/>
          <a:p>
            <a:fld id="{62449CD7-1D17-8346-B5C0-1DAE226986B6}" type="slidenum">
              <a:rPr lang="en-KE" smtClean="0"/>
              <a:t>‹#›</a:t>
            </a:fld>
            <a:endParaRPr lang="en-KE"/>
          </a:p>
        </p:txBody>
      </p:sp>
    </p:spTree>
    <p:extLst>
      <p:ext uri="{BB962C8B-B14F-4D97-AF65-F5344CB8AC3E}">
        <p14:creationId xmlns:p14="http://schemas.microsoft.com/office/powerpoint/2010/main" val="32913418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4CF697-BB86-D74B-924C-A50BB046D69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KE"/>
          </a:p>
        </p:txBody>
      </p:sp>
      <p:sp>
        <p:nvSpPr>
          <p:cNvPr id="3" name="Vertical Text Placeholder 2">
            <a:extLst>
              <a:ext uri="{FF2B5EF4-FFF2-40B4-BE49-F238E27FC236}">
                <a16:creationId xmlns:a16="http://schemas.microsoft.com/office/drawing/2014/main" id="{BFCA1923-79B8-E943-8920-A5B0DE8492D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4" name="Date Placeholder 3">
            <a:extLst>
              <a:ext uri="{FF2B5EF4-FFF2-40B4-BE49-F238E27FC236}">
                <a16:creationId xmlns:a16="http://schemas.microsoft.com/office/drawing/2014/main" id="{42023637-49B0-4246-8956-86DB4720ADF0}"/>
              </a:ext>
            </a:extLst>
          </p:cNvPr>
          <p:cNvSpPr>
            <a:spLocks noGrp="1"/>
          </p:cNvSpPr>
          <p:nvPr>
            <p:ph type="dt" sz="half" idx="10"/>
          </p:nvPr>
        </p:nvSpPr>
        <p:spPr/>
        <p:txBody>
          <a:bodyPr/>
          <a:lstStyle/>
          <a:p>
            <a:fld id="{FC594DC0-2F2E-5042-98DA-CB6DFD0A1DD0}" type="datetimeFigureOut">
              <a:rPr lang="en-KE" smtClean="0"/>
              <a:t>03/10/2023</a:t>
            </a:fld>
            <a:endParaRPr lang="en-KE"/>
          </a:p>
        </p:txBody>
      </p:sp>
      <p:sp>
        <p:nvSpPr>
          <p:cNvPr id="5" name="Footer Placeholder 4">
            <a:extLst>
              <a:ext uri="{FF2B5EF4-FFF2-40B4-BE49-F238E27FC236}">
                <a16:creationId xmlns:a16="http://schemas.microsoft.com/office/drawing/2014/main" id="{2F20A83A-4EEF-994A-AA79-6DD519ECDE82}"/>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D1486D67-D528-0D42-A5B4-66B8C989C915}"/>
              </a:ext>
            </a:extLst>
          </p:cNvPr>
          <p:cNvSpPr>
            <a:spLocks noGrp="1"/>
          </p:cNvSpPr>
          <p:nvPr>
            <p:ph type="sldNum" sz="quarter" idx="12"/>
          </p:nvPr>
        </p:nvSpPr>
        <p:spPr/>
        <p:txBody>
          <a:bodyPr/>
          <a:lstStyle/>
          <a:p>
            <a:fld id="{62449CD7-1D17-8346-B5C0-1DAE226986B6}" type="slidenum">
              <a:rPr lang="en-KE" smtClean="0"/>
              <a:t>‹#›</a:t>
            </a:fld>
            <a:endParaRPr lang="en-KE"/>
          </a:p>
        </p:txBody>
      </p:sp>
    </p:spTree>
    <p:extLst>
      <p:ext uri="{BB962C8B-B14F-4D97-AF65-F5344CB8AC3E}">
        <p14:creationId xmlns:p14="http://schemas.microsoft.com/office/powerpoint/2010/main" val="4117327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0784CC-8EB7-C343-8206-38F9440E21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KE"/>
          </a:p>
        </p:txBody>
      </p:sp>
      <p:sp>
        <p:nvSpPr>
          <p:cNvPr id="3" name="Text Placeholder 2">
            <a:extLst>
              <a:ext uri="{FF2B5EF4-FFF2-40B4-BE49-F238E27FC236}">
                <a16:creationId xmlns:a16="http://schemas.microsoft.com/office/drawing/2014/main" id="{DC348189-6D29-9747-9A46-A339B4D31D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4" name="Date Placeholder 3">
            <a:extLst>
              <a:ext uri="{FF2B5EF4-FFF2-40B4-BE49-F238E27FC236}">
                <a16:creationId xmlns:a16="http://schemas.microsoft.com/office/drawing/2014/main" id="{371F7652-8743-0E47-83C0-9FDB282637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594DC0-2F2E-5042-98DA-CB6DFD0A1DD0}" type="datetimeFigureOut">
              <a:rPr lang="en-KE" smtClean="0"/>
              <a:t>03/10/2023</a:t>
            </a:fld>
            <a:endParaRPr lang="en-KE"/>
          </a:p>
        </p:txBody>
      </p:sp>
      <p:sp>
        <p:nvSpPr>
          <p:cNvPr id="5" name="Footer Placeholder 4">
            <a:extLst>
              <a:ext uri="{FF2B5EF4-FFF2-40B4-BE49-F238E27FC236}">
                <a16:creationId xmlns:a16="http://schemas.microsoft.com/office/drawing/2014/main" id="{51F537C7-F6B4-F148-849D-C1B4F0AC24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KE"/>
          </a:p>
        </p:txBody>
      </p:sp>
      <p:sp>
        <p:nvSpPr>
          <p:cNvPr id="6" name="Slide Number Placeholder 5">
            <a:extLst>
              <a:ext uri="{FF2B5EF4-FFF2-40B4-BE49-F238E27FC236}">
                <a16:creationId xmlns:a16="http://schemas.microsoft.com/office/drawing/2014/main" id="{6F6F40EC-85D2-104D-A8BB-0F4A18C78A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449CD7-1D17-8346-B5C0-1DAE226986B6}" type="slidenum">
              <a:rPr lang="en-KE" smtClean="0"/>
              <a:t>‹#›</a:t>
            </a:fld>
            <a:endParaRPr lang="en-KE"/>
          </a:p>
        </p:txBody>
      </p:sp>
    </p:spTree>
    <p:extLst>
      <p:ext uri="{BB962C8B-B14F-4D97-AF65-F5344CB8AC3E}">
        <p14:creationId xmlns:p14="http://schemas.microsoft.com/office/powerpoint/2010/main" val="35557302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ipl.org/topics/health"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en.wikipedia.org/wiki/Biopsychosocial_mode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F78F1-3931-2E40-AF06-200EAD352568}"/>
              </a:ext>
            </a:extLst>
          </p:cNvPr>
          <p:cNvSpPr>
            <a:spLocks noGrp="1"/>
          </p:cNvSpPr>
          <p:nvPr>
            <p:ph type="ctrTitle"/>
          </p:nvPr>
        </p:nvSpPr>
        <p:spPr/>
        <p:txBody>
          <a:bodyPr/>
          <a:lstStyle/>
          <a:p>
            <a:r>
              <a:rPr lang="en-KE" dirty="0"/>
              <a:t>APS 405</a:t>
            </a:r>
          </a:p>
        </p:txBody>
      </p:sp>
      <p:sp>
        <p:nvSpPr>
          <p:cNvPr id="3" name="Subtitle 2">
            <a:extLst>
              <a:ext uri="{FF2B5EF4-FFF2-40B4-BE49-F238E27FC236}">
                <a16:creationId xmlns:a16="http://schemas.microsoft.com/office/drawing/2014/main" id="{C1BE1308-401B-6C4B-AA86-4CC85CCCD583}"/>
              </a:ext>
            </a:extLst>
          </p:cNvPr>
          <p:cNvSpPr>
            <a:spLocks noGrp="1"/>
          </p:cNvSpPr>
          <p:nvPr>
            <p:ph type="subTitle" idx="1"/>
          </p:nvPr>
        </p:nvSpPr>
        <p:spPr/>
        <p:txBody>
          <a:bodyPr>
            <a:normAutofit/>
          </a:bodyPr>
          <a:lstStyle/>
          <a:p>
            <a:r>
              <a:rPr lang="en-KE" sz="3200" dirty="0"/>
              <a:t>HEALTH PSYCHOLOGY</a:t>
            </a:r>
          </a:p>
        </p:txBody>
      </p:sp>
    </p:spTree>
    <p:extLst>
      <p:ext uri="{BB962C8B-B14F-4D97-AF65-F5344CB8AC3E}">
        <p14:creationId xmlns:p14="http://schemas.microsoft.com/office/powerpoint/2010/main" val="17897405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86C86-11CB-5A4A-8AE8-22936744A31C}"/>
              </a:ext>
            </a:extLst>
          </p:cNvPr>
          <p:cNvSpPr>
            <a:spLocks noGrp="1"/>
          </p:cNvSpPr>
          <p:nvPr>
            <p:ph type="title"/>
          </p:nvPr>
        </p:nvSpPr>
        <p:spPr/>
        <p:txBody>
          <a:bodyPr/>
          <a:lstStyle/>
          <a:p>
            <a:r>
              <a:rPr lang="en-KE" dirty="0"/>
              <a:t>What is health psychology?</a:t>
            </a:r>
          </a:p>
        </p:txBody>
      </p:sp>
      <p:sp>
        <p:nvSpPr>
          <p:cNvPr id="3" name="Content Placeholder 2">
            <a:extLst>
              <a:ext uri="{FF2B5EF4-FFF2-40B4-BE49-F238E27FC236}">
                <a16:creationId xmlns:a16="http://schemas.microsoft.com/office/drawing/2014/main" id="{F582175B-9230-9B48-99F4-B10A72EDF284}"/>
              </a:ext>
            </a:extLst>
          </p:cNvPr>
          <p:cNvSpPr>
            <a:spLocks noGrp="1"/>
          </p:cNvSpPr>
          <p:nvPr>
            <p:ph idx="1"/>
          </p:nvPr>
        </p:nvSpPr>
        <p:spPr/>
        <p:txBody>
          <a:bodyPr>
            <a:normAutofit fontScale="70000" lnSpcReduction="20000"/>
          </a:bodyPr>
          <a:lstStyle/>
          <a:p>
            <a:r>
              <a:rPr lang="en-GB" sz="3400" dirty="0"/>
              <a:t>Health Psychology is a branch of psychology in which the behavioural, psychological and social effects on health are researched into. </a:t>
            </a:r>
          </a:p>
          <a:p>
            <a:r>
              <a:rPr lang="en-US" sz="3400" dirty="0"/>
              <a:t>It is concerned with understanding how psychological, </a:t>
            </a:r>
            <a:r>
              <a:rPr lang="en-US" sz="3400" dirty="0" err="1"/>
              <a:t>behavioural</a:t>
            </a:r>
            <a:r>
              <a:rPr lang="en-US" sz="3400" dirty="0"/>
              <a:t> and socio/cultural factors are involved in physical health and illness. It is therefore concerned with all aspects of health and illness across the life span.</a:t>
            </a:r>
            <a:endParaRPr lang="en-GB" sz="3400" dirty="0"/>
          </a:p>
          <a:p>
            <a:r>
              <a:rPr lang="en-GB" sz="3400" dirty="0"/>
              <a:t>Friedman and Alder 2007 perceive health psychology to be “the scientific study of psychological processes related to health and healthcare”</a:t>
            </a:r>
          </a:p>
          <a:p>
            <a:r>
              <a:rPr lang="en-US" sz="3400" b="1" i="1" dirty="0"/>
              <a:t>Health</a:t>
            </a:r>
            <a:r>
              <a:rPr lang="en-US" sz="3400" dirty="0"/>
              <a:t>: The World Health Organization (WHO, 1948) defined health as: ‘the state of complete physical, social and spiritual well-being, not simply the absence of illness’.  </a:t>
            </a:r>
            <a:endParaRPr lang="en-KE" sz="3400" dirty="0"/>
          </a:p>
          <a:p>
            <a:r>
              <a:rPr lang="en-US" sz="3400" b="1" i="1" dirty="0"/>
              <a:t>Illness</a:t>
            </a:r>
            <a:r>
              <a:rPr lang="en-US" sz="3400" dirty="0"/>
              <a:t> means a person is not in good health. It can also be viewed as a state of not being healthy or feeling different from usual.</a:t>
            </a:r>
          </a:p>
          <a:p>
            <a:r>
              <a:rPr lang="en-US" sz="3400" dirty="0"/>
              <a:t> The state of being ill can be very subjective since most times it depends on how a person describes his or her condition at the time. </a:t>
            </a:r>
          </a:p>
          <a:p>
            <a:endParaRPr lang="en-GB" sz="3200" dirty="0"/>
          </a:p>
          <a:p>
            <a:endParaRPr lang="en-KE" dirty="0"/>
          </a:p>
        </p:txBody>
      </p:sp>
    </p:spTree>
    <p:extLst>
      <p:ext uri="{BB962C8B-B14F-4D97-AF65-F5344CB8AC3E}">
        <p14:creationId xmlns:p14="http://schemas.microsoft.com/office/powerpoint/2010/main" val="34033572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6411B-5D4C-1224-201F-313DC5FA6B79}"/>
              </a:ext>
            </a:extLst>
          </p:cNvPr>
          <p:cNvSpPr>
            <a:spLocks noGrp="1"/>
          </p:cNvSpPr>
          <p:nvPr>
            <p:ph type="title"/>
          </p:nvPr>
        </p:nvSpPr>
        <p:spPr/>
        <p:txBody>
          <a:bodyPr/>
          <a:lstStyle/>
          <a:p>
            <a:r>
              <a:rPr lang="en-US" b="1" dirty="0"/>
              <a:t>Nature and Scope of Health Psychology</a:t>
            </a:r>
            <a:br>
              <a:rPr lang="en-KE" dirty="0"/>
            </a:br>
            <a:endParaRPr lang="en-KE" dirty="0"/>
          </a:p>
        </p:txBody>
      </p:sp>
      <p:sp>
        <p:nvSpPr>
          <p:cNvPr id="3" name="Content Placeholder 2">
            <a:extLst>
              <a:ext uri="{FF2B5EF4-FFF2-40B4-BE49-F238E27FC236}">
                <a16:creationId xmlns:a16="http://schemas.microsoft.com/office/drawing/2014/main" id="{1F4C4A40-22C3-9E99-C385-E94046E2313F}"/>
              </a:ext>
            </a:extLst>
          </p:cNvPr>
          <p:cNvSpPr>
            <a:spLocks noGrp="1"/>
          </p:cNvSpPr>
          <p:nvPr>
            <p:ph idx="1"/>
          </p:nvPr>
        </p:nvSpPr>
        <p:spPr/>
        <p:txBody>
          <a:bodyPr>
            <a:normAutofit lnSpcReduction="10000"/>
          </a:bodyPr>
          <a:lstStyle/>
          <a:p>
            <a:pPr marL="0" indent="0">
              <a:buNone/>
            </a:pPr>
            <a:r>
              <a:rPr lang="en-GB" b="1" dirty="0"/>
              <a:t>Nature</a:t>
            </a:r>
          </a:p>
          <a:p>
            <a:r>
              <a:rPr lang="en-GB" dirty="0"/>
              <a:t>The field of health psychology is </a:t>
            </a:r>
            <a:r>
              <a:rPr lang="en-GB" b="1" dirty="0"/>
              <a:t>focused on promoting health as well as the prevention and treatment of disease and illness</a:t>
            </a:r>
            <a:r>
              <a:rPr lang="en-GB" dirty="0"/>
              <a:t>. </a:t>
            </a:r>
          </a:p>
          <a:p>
            <a:r>
              <a:rPr lang="en-GB" dirty="0"/>
              <a:t>Health psychologists also focus on understanding how people react to, cope with, and recover from illness.</a:t>
            </a:r>
            <a:endParaRPr lang="en-GB" sz="3200" b="1" i="1" dirty="0"/>
          </a:p>
          <a:p>
            <a:r>
              <a:rPr lang="en-GB" sz="3200" b="1" i="1" dirty="0"/>
              <a:t>Scope</a:t>
            </a:r>
          </a:p>
          <a:p>
            <a:r>
              <a:rPr lang="en-GB" dirty="0"/>
              <a:t>Health psychology is an interdisciplinary field </a:t>
            </a:r>
            <a:r>
              <a:rPr lang="en-GB" b="1" dirty="0"/>
              <a:t>concerned with the application of psychological knowledge and techniques to health, illness and health care</a:t>
            </a:r>
            <a:r>
              <a:rPr lang="en-GB" dirty="0"/>
              <a:t>. Health psychologists generally hold a wholistic perspective on individual well-being.</a:t>
            </a:r>
            <a:endParaRPr lang="en-US" sz="3200" b="1" i="1" dirty="0"/>
          </a:p>
          <a:p>
            <a:endParaRPr lang="en-KE" dirty="0"/>
          </a:p>
        </p:txBody>
      </p:sp>
    </p:spTree>
    <p:extLst>
      <p:ext uri="{BB962C8B-B14F-4D97-AF65-F5344CB8AC3E}">
        <p14:creationId xmlns:p14="http://schemas.microsoft.com/office/powerpoint/2010/main" val="1627322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06932-4909-DD4D-BACE-75639CD25AB5}"/>
              </a:ext>
            </a:extLst>
          </p:cNvPr>
          <p:cNvSpPr>
            <a:spLocks noGrp="1"/>
          </p:cNvSpPr>
          <p:nvPr>
            <p:ph type="title"/>
          </p:nvPr>
        </p:nvSpPr>
        <p:spPr/>
        <p:txBody>
          <a:bodyPr/>
          <a:lstStyle/>
          <a:p>
            <a:r>
              <a:rPr lang="en-GB" dirty="0"/>
              <a:t>C</a:t>
            </a:r>
            <a:r>
              <a:rPr lang="en-KE" dirty="0"/>
              <a:t>ont. </a:t>
            </a:r>
          </a:p>
        </p:txBody>
      </p:sp>
      <p:sp>
        <p:nvSpPr>
          <p:cNvPr id="3" name="Content Placeholder 2">
            <a:extLst>
              <a:ext uri="{FF2B5EF4-FFF2-40B4-BE49-F238E27FC236}">
                <a16:creationId xmlns:a16="http://schemas.microsoft.com/office/drawing/2014/main" id="{5AFD1AAA-C6EA-A748-810C-846E336A55A4}"/>
              </a:ext>
            </a:extLst>
          </p:cNvPr>
          <p:cNvSpPr>
            <a:spLocks noGrp="1"/>
          </p:cNvSpPr>
          <p:nvPr>
            <p:ph idx="1"/>
          </p:nvPr>
        </p:nvSpPr>
        <p:spPr/>
        <p:txBody>
          <a:bodyPr>
            <a:normAutofit/>
          </a:bodyPr>
          <a:lstStyle/>
          <a:p>
            <a:r>
              <a:rPr lang="en-GB" sz="3200" dirty="0">
                <a:solidFill>
                  <a:srgbClr val="00B050"/>
                </a:solidFill>
              </a:rPr>
              <a:t>In studying health psychology, a  bio-psycho-socio approach or a holistic approach is used. </a:t>
            </a:r>
            <a:endParaRPr lang="en-GB" sz="3200" dirty="0"/>
          </a:p>
          <a:p>
            <a:r>
              <a:rPr lang="en-GB" sz="3200" dirty="0"/>
              <a:t>The usage of holistic approach is important based on the fact that researchers perceive absence or presence of good </a:t>
            </a:r>
            <a:r>
              <a:rPr lang="en-GB" sz="3200" dirty="0">
                <a:hlinkClick r:id="rId2"/>
              </a:rPr>
              <a:t>health</a:t>
            </a:r>
            <a:r>
              <a:rPr lang="en-GB" sz="3200" dirty="0"/>
              <a:t>/illness as originating from a combination of biological, psychological and sociological/cultural factors.</a:t>
            </a:r>
          </a:p>
          <a:p>
            <a:r>
              <a:rPr lang="en-GB" sz="3200" dirty="0"/>
              <a:t> A holistic point of view therefore is important as it can be utilised to research into the various factors that play a role in human health.</a:t>
            </a:r>
          </a:p>
          <a:p>
            <a:endParaRPr lang="en-KE" dirty="0"/>
          </a:p>
        </p:txBody>
      </p:sp>
    </p:spTree>
    <p:extLst>
      <p:ext uri="{BB962C8B-B14F-4D97-AF65-F5344CB8AC3E}">
        <p14:creationId xmlns:p14="http://schemas.microsoft.com/office/powerpoint/2010/main" val="9701068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02B69-9323-3145-A978-F3594DA4ABDA}"/>
              </a:ext>
            </a:extLst>
          </p:cNvPr>
          <p:cNvSpPr>
            <a:spLocks noGrp="1"/>
          </p:cNvSpPr>
          <p:nvPr>
            <p:ph type="title"/>
          </p:nvPr>
        </p:nvSpPr>
        <p:spPr/>
        <p:txBody>
          <a:bodyPr/>
          <a:lstStyle/>
          <a:p>
            <a:r>
              <a:rPr lang="en-GB" dirty="0"/>
              <a:t>C</a:t>
            </a:r>
            <a:r>
              <a:rPr lang="en-KE" dirty="0"/>
              <a:t>ont. </a:t>
            </a:r>
          </a:p>
        </p:txBody>
      </p:sp>
      <p:sp>
        <p:nvSpPr>
          <p:cNvPr id="3" name="Content Placeholder 2">
            <a:extLst>
              <a:ext uri="{FF2B5EF4-FFF2-40B4-BE49-F238E27FC236}">
                <a16:creationId xmlns:a16="http://schemas.microsoft.com/office/drawing/2014/main" id="{ED144371-7942-E748-A715-8081F92C94AC}"/>
              </a:ext>
            </a:extLst>
          </p:cNvPr>
          <p:cNvSpPr>
            <a:spLocks noGrp="1"/>
          </p:cNvSpPr>
          <p:nvPr>
            <p:ph idx="1"/>
          </p:nvPr>
        </p:nvSpPr>
        <p:spPr/>
        <p:txBody>
          <a:bodyPr>
            <a:noAutofit/>
          </a:bodyPr>
          <a:lstStyle/>
          <a:p>
            <a:r>
              <a:rPr lang="en-GB" sz="3200" b="1" dirty="0"/>
              <a:t>Social factors: </a:t>
            </a:r>
            <a:r>
              <a:rPr lang="en-GB" sz="3200" b="1" dirty="0" err="1"/>
              <a:t>behavioral</a:t>
            </a:r>
            <a:r>
              <a:rPr lang="en-GB" sz="3200" b="1" dirty="0"/>
              <a:t> for example </a:t>
            </a:r>
            <a:r>
              <a:rPr lang="en-GB" sz="3200" dirty="0"/>
              <a:t>can affect a person's health positively or negatively, for example, smoking and consuming excessive amounts of alcohol can be detrimental to health while  engaging in regular exercise and eating a well balanced diet enhances health.</a:t>
            </a:r>
          </a:p>
          <a:p>
            <a:r>
              <a:rPr lang="en-GB" sz="3200" dirty="0"/>
              <a:t>Health psychologists take a </a:t>
            </a:r>
            <a:r>
              <a:rPr lang="en-GB" sz="3200" dirty="0">
                <a:hlinkClick r:id="rId2" tooltip="Biopsychosocial model"/>
              </a:rPr>
              <a:t>biopsychosocial</a:t>
            </a:r>
            <a:r>
              <a:rPr lang="en-GB" sz="3200" dirty="0"/>
              <a:t> approach in understanding human health and illness. </a:t>
            </a:r>
          </a:p>
          <a:p>
            <a:r>
              <a:rPr lang="en-GB" sz="3200" dirty="0"/>
              <a:t>The biopsychosocial model states that the workings of the body, mind, and environment all affect each other. </a:t>
            </a:r>
          </a:p>
          <a:p>
            <a:endParaRPr lang="en-KE" sz="3200" dirty="0">
              <a:solidFill>
                <a:srgbClr val="00B050"/>
              </a:solidFill>
            </a:endParaRPr>
          </a:p>
        </p:txBody>
      </p:sp>
    </p:spTree>
    <p:extLst>
      <p:ext uri="{BB962C8B-B14F-4D97-AF65-F5344CB8AC3E}">
        <p14:creationId xmlns:p14="http://schemas.microsoft.com/office/powerpoint/2010/main" val="3728978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FC9DE-DD52-6B01-0AA0-10705ECEAF63}"/>
              </a:ext>
            </a:extLst>
          </p:cNvPr>
          <p:cNvSpPr>
            <a:spLocks noGrp="1"/>
          </p:cNvSpPr>
          <p:nvPr>
            <p:ph type="title"/>
          </p:nvPr>
        </p:nvSpPr>
        <p:spPr/>
        <p:txBody>
          <a:bodyPr/>
          <a:lstStyle/>
          <a:p>
            <a:r>
              <a:rPr lang="en-GB" dirty="0"/>
              <a:t>C</a:t>
            </a:r>
            <a:r>
              <a:rPr lang="en-KE" dirty="0"/>
              <a:t>ont.</a:t>
            </a:r>
          </a:p>
        </p:txBody>
      </p:sp>
      <p:sp>
        <p:nvSpPr>
          <p:cNvPr id="3" name="Content Placeholder 2">
            <a:extLst>
              <a:ext uri="{FF2B5EF4-FFF2-40B4-BE49-F238E27FC236}">
                <a16:creationId xmlns:a16="http://schemas.microsoft.com/office/drawing/2014/main" id="{128BB939-86D3-7075-B766-AB15D3BDC265}"/>
              </a:ext>
            </a:extLst>
          </p:cNvPr>
          <p:cNvSpPr>
            <a:spLocks noGrp="1"/>
          </p:cNvSpPr>
          <p:nvPr>
            <p:ph idx="1"/>
          </p:nvPr>
        </p:nvSpPr>
        <p:spPr/>
        <p:txBody>
          <a:bodyPr>
            <a:normAutofit/>
          </a:bodyPr>
          <a:lstStyle/>
          <a:p>
            <a:pPr fontAlgn="base"/>
            <a:r>
              <a:rPr lang="en-GB" sz="2800" dirty="0"/>
              <a:t>According to this model, none of these factors in isolation is sufficient to lead ultimately to health or illness—it is the deep interrelation of all the three components that leads to a given outcome.</a:t>
            </a:r>
          </a:p>
          <a:p>
            <a:pPr fontAlgn="base"/>
            <a:r>
              <a:rPr lang="en-GB" sz="2800" dirty="0"/>
              <a:t>Health promotion must address all the three factors, as a growing body of empirical literature suggests that it is the combination of health status, perceptions of health, and sociocultural barriers to accessing health care that influence the likelihood of a patient engaging in health-promoting </a:t>
            </a:r>
            <a:r>
              <a:rPr lang="en-GB" sz="2800" dirty="0" err="1"/>
              <a:t>behaviors</a:t>
            </a:r>
            <a:r>
              <a:rPr lang="en-GB" sz="2800" dirty="0"/>
              <a:t>, like taking medication as prescribed, proper diet or nutrition, and engaging in physical activity.</a:t>
            </a:r>
          </a:p>
          <a:p>
            <a:endParaRPr lang="en-KE" dirty="0"/>
          </a:p>
        </p:txBody>
      </p:sp>
    </p:spTree>
    <p:extLst>
      <p:ext uri="{BB962C8B-B14F-4D97-AF65-F5344CB8AC3E}">
        <p14:creationId xmlns:p14="http://schemas.microsoft.com/office/powerpoint/2010/main" val="3202770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0BF70-EB03-7048-B73A-AB563D957A9A}"/>
              </a:ext>
            </a:extLst>
          </p:cNvPr>
          <p:cNvSpPr>
            <a:spLocks noGrp="1"/>
          </p:cNvSpPr>
          <p:nvPr>
            <p:ph type="title"/>
          </p:nvPr>
        </p:nvSpPr>
        <p:spPr/>
        <p:txBody>
          <a:bodyPr/>
          <a:lstStyle/>
          <a:p>
            <a:r>
              <a:rPr lang="en-GB" dirty="0"/>
              <a:t>C</a:t>
            </a:r>
            <a:r>
              <a:rPr lang="en-KE" dirty="0"/>
              <a:t>ont. </a:t>
            </a:r>
          </a:p>
        </p:txBody>
      </p:sp>
      <p:sp>
        <p:nvSpPr>
          <p:cNvPr id="3" name="Content Placeholder 2">
            <a:extLst>
              <a:ext uri="{FF2B5EF4-FFF2-40B4-BE49-F238E27FC236}">
                <a16:creationId xmlns:a16="http://schemas.microsoft.com/office/drawing/2014/main" id="{515CB24A-A6F4-1B4D-A121-919206F6C6CD}"/>
              </a:ext>
            </a:extLst>
          </p:cNvPr>
          <p:cNvSpPr>
            <a:spLocks noGrp="1"/>
          </p:cNvSpPr>
          <p:nvPr>
            <p:ph idx="1"/>
          </p:nvPr>
        </p:nvSpPr>
        <p:spPr/>
        <p:txBody>
          <a:bodyPr>
            <a:normAutofit lnSpcReduction="10000"/>
          </a:bodyPr>
          <a:lstStyle/>
          <a:p>
            <a:r>
              <a:rPr lang="en-GB" sz="3200" dirty="0"/>
              <a:t>Each component on its own is therefore insufficient to explain human health or illness. We explore each of the component:</a:t>
            </a:r>
          </a:p>
          <a:p>
            <a:pPr marL="0" indent="0" fontAlgn="base">
              <a:buNone/>
            </a:pPr>
            <a:r>
              <a:rPr lang="en-GB" sz="3200" b="1" dirty="0"/>
              <a:t>1.Biological Influences on Health</a:t>
            </a:r>
          </a:p>
          <a:p>
            <a:pPr fontAlgn="base"/>
            <a:r>
              <a:rPr lang="en-GB" sz="3200" dirty="0"/>
              <a:t>Biological influences on health include an individual’s genetic makeup and history of physical trauma or infection. </a:t>
            </a:r>
          </a:p>
          <a:p>
            <a:pPr fontAlgn="base"/>
            <a:r>
              <a:rPr lang="en-GB" sz="3200" dirty="0"/>
              <a:t>Many disorders have an inherited genetic vulnerability. </a:t>
            </a:r>
          </a:p>
          <a:p>
            <a:pPr fontAlgn="base"/>
            <a:r>
              <a:rPr lang="en-GB" sz="3200" dirty="0"/>
              <a:t>The greatest single risk factor for developing schizophrenia, for example is having a first-degree relative with the disease.</a:t>
            </a:r>
          </a:p>
          <a:p>
            <a:pPr marL="0" indent="0">
              <a:buNone/>
            </a:pPr>
            <a:endParaRPr lang="en-GB" dirty="0"/>
          </a:p>
        </p:txBody>
      </p:sp>
    </p:spTree>
    <p:extLst>
      <p:ext uri="{BB962C8B-B14F-4D97-AF65-F5344CB8AC3E}">
        <p14:creationId xmlns:p14="http://schemas.microsoft.com/office/powerpoint/2010/main" val="187038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25705-7E84-564F-88DE-5E7321694CF3}"/>
              </a:ext>
            </a:extLst>
          </p:cNvPr>
          <p:cNvSpPr>
            <a:spLocks noGrp="1"/>
          </p:cNvSpPr>
          <p:nvPr>
            <p:ph type="title"/>
          </p:nvPr>
        </p:nvSpPr>
        <p:spPr/>
        <p:txBody>
          <a:bodyPr/>
          <a:lstStyle/>
          <a:p>
            <a:r>
              <a:rPr lang="en-GB" dirty="0"/>
              <a:t>C</a:t>
            </a:r>
            <a:r>
              <a:rPr lang="en-KE" dirty="0"/>
              <a:t>ont.</a:t>
            </a:r>
          </a:p>
        </p:txBody>
      </p:sp>
      <p:sp>
        <p:nvSpPr>
          <p:cNvPr id="3" name="Content Placeholder 2">
            <a:extLst>
              <a:ext uri="{FF2B5EF4-FFF2-40B4-BE49-F238E27FC236}">
                <a16:creationId xmlns:a16="http://schemas.microsoft.com/office/drawing/2014/main" id="{9BE466F6-DDE0-B542-AEE0-FD37DC147446}"/>
              </a:ext>
            </a:extLst>
          </p:cNvPr>
          <p:cNvSpPr>
            <a:spLocks noGrp="1"/>
          </p:cNvSpPr>
          <p:nvPr>
            <p:ph idx="1"/>
          </p:nvPr>
        </p:nvSpPr>
        <p:spPr/>
        <p:txBody>
          <a:bodyPr>
            <a:normAutofit fontScale="92500" lnSpcReduction="20000"/>
          </a:bodyPr>
          <a:lstStyle/>
          <a:p>
            <a:r>
              <a:rPr lang="en-GB" sz="3200" b="1" dirty="0"/>
              <a:t>It is clear that genetics have an important role in the development of schizophrenia, but equally clear is that there must be other factors at play. </a:t>
            </a:r>
            <a:r>
              <a:rPr lang="en-GB" sz="3200" dirty="0"/>
              <a:t>Certain non-biological factors influence the expression of the disorder in those with a pre-existing genetic risk for example, environmental-stressful environment, can provoke depression in a person with a schizophrenic predisposition.</a:t>
            </a:r>
          </a:p>
          <a:p>
            <a:pPr marL="0" indent="0" fontAlgn="base">
              <a:buNone/>
            </a:pPr>
            <a:r>
              <a:rPr lang="en-GB" sz="3200" b="1" dirty="0"/>
              <a:t>2. Psychological Influences on Health- </a:t>
            </a:r>
          </a:p>
          <a:p>
            <a:pPr marL="0" indent="0" fontAlgn="base">
              <a:buNone/>
            </a:pPr>
            <a:r>
              <a:rPr lang="en-GB" sz="3200" dirty="0"/>
              <a:t>The </a:t>
            </a:r>
            <a:r>
              <a:rPr lang="en-GB" sz="3200" b="1" dirty="0"/>
              <a:t>psychological component seeks to find a psychological foundation for a particular symptom or collection of symptoms </a:t>
            </a:r>
            <a:r>
              <a:rPr lang="en-GB" sz="3200" dirty="0"/>
              <a:t>(e.g., irritability, aggressiveness, overwhelming sadness, etc.). </a:t>
            </a:r>
          </a:p>
          <a:p>
            <a:pPr marL="0" indent="0">
              <a:buNone/>
            </a:pPr>
            <a:endParaRPr lang="en-KE" dirty="0"/>
          </a:p>
        </p:txBody>
      </p:sp>
    </p:spTree>
    <p:extLst>
      <p:ext uri="{BB962C8B-B14F-4D97-AF65-F5344CB8AC3E}">
        <p14:creationId xmlns:p14="http://schemas.microsoft.com/office/powerpoint/2010/main" val="3744533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4B272-977C-1F4D-97FD-C080EF22A012}"/>
              </a:ext>
            </a:extLst>
          </p:cNvPr>
          <p:cNvSpPr>
            <a:spLocks noGrp="1"/>
          </p:cNvSpPr>
          <p:nvPr>
            <p:ph type="title"/>
          </p:nvPr>
        </p:nvSpPr>
        <p:spPr/>
        <p:txBody>
          <a:bodyPr/>
          <a:lstStyle/>
          <a:p>
            <a:r>
              <a:rPr lang="en-GB" dirty="0"/>
              <a:t>C</a:t>
            </a:r>
            <a:r>
              <a:rPr lang="en-KE" dirty="0"/>
              <a:t>ont. </a:t>
            </a:r>
          </a:p>
        </p:txBody>
      </p:sp>
      <p:sp>
        <p:nvSpPr>
          <p:cNvPr id="3" name="Content Placeholder 2">
            <a:extLst>
              <a:ext uri="{FF2B5EF4-FFF2-40B4-BE49-F238E27FC236}">
                <a16:creationId xmlns:a16="http://schemas.microsoft.com/office/drawing/2014/main" id="{F25B2DAB-1D00-7549-9363-BECDE98372FC}"/>
              </a:ext>
            </a:extLst>
          </p:cNvPr>
          <p:cNvSpPr>
            <a:spLocks noGrp="1"/>
          </p:cNvSpPr>
          <p:nvPr>
            <p:ph idx="1"/>
          </p:nvPr>
        </p:nvSpPr>
        <p:spPr/>
        <p:txBody>
          <a:bodyPr>
            <a:normAutofit/>
          </a:bodyPr>
          <a:lstStyle/>
          <a:p>
            <a:r>
              <a:rPr lang="en-GB" sz="3200" dirty="0"/>
              <a:t>Individuals with a genetic vulnerability for depression are likely to display negative thinking that puts them at risk of suffering depression. </a:t>
            </a:r>
          </a:p>
          <a:p>
            <a:r>
              <a:rPr lang="en-GB" sz="3200" dirty="0"/>
              <a:t>Depression on its own may not cause liver problems, but a person with depression is more likely to abuse alcohol, and, therefore, develop liver damage.</a:t>
            </a:r>
          </a:p>
          <a:p>
            <a:r>
              <a:rPr lang="en-GB" sz="3200" dirty="0"/>
              <a:t>A psychological factor such as stress may put a person with a genetic vulnerability to cancer at a risk of suffering from the disease. </a:t>
            </a:r>
          </a:p>
          <a:p>
            <a:endParaRPr lang="en-GB" sz="3200" dirty="0"/>
          </a:p>
          <a:p>
            <a:pPr marL="0" indent="0">
              <a:buNone/>
            </a:pPr>
            <a:endParaRPr lang="en-KE" dirty="0"/>
          </a:p>
        </p:txBody>
      </p:sp>
    </p:spTree>
    <p:extLst>
      <p:ext uri="{BB962C8B-B14F-4D97-AF65-F5344CB8AC3E}">
        <p14:creationId xmlns:p14="http://schemas.microsoft.com/office/powerpoint/2010/main" val="3119351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EB6A0-C1F1-E441-B742-93DDCB3BD98C}"/>
              </a:ext>
            </a:extLst>
          </p:cNvPr>
          <p:cNvSpPr>
            <a:spLocks noGrp="1"/>
          </p:cNvSpPr>
          <p:nvPr>
            <p:ph type="title"/>
          </p:nvPr>
        </p:nvSpPr>
        <p:spPr/>
        <p:txBody>
          <a:bodyPr>
            <a:normAutofit/>
          </a:bodyPr>
          <a:lstStyle/>
          <a:p>
            <a:br>
              <a:rPr lang="en-GB" b="1" dirty="0"/>
            </a:br>
            <a:r>
              <a:rPr lang="en-GB" sz="3200" b="1" dirty="0"/>
              <a:t>3. </a:t>
            </a:r>
            <a:r>
              <a:rPr lang="en-GB" sz="3600" b="1" dirty="0"/>
              <a:t>Social Influences on Health</a:t>
            </a:r>
            <a:endParaRPr lang="en-KE" sz="3600" b="1" dirty="0"/>
          </a:p>
        </p:txBody>
      </p:sp>
      <p:sp>
        <p:nvSpPr>
          <p:cNvPr id="3" name="Content Placeholder 2">
            <a:extLst>
              <a:ext uri="{FF2B5EF4-FFF2-40B4-BE49-F238E27FC236}">
                <a16:creationId xmlns:a16="http://schemas.microsoft.com/office/drawing/2014/main" id="{1478ECFA-DCA7-024B-8463-C29E332CC573}"/>
              </a:ext>
            </a:extLst>
          </p:cNvPr>
          <p:cNvSpPr>
            <a:spLocks noGrp="1"/>
          </p:cNvSpPr>
          <p:nvPr>
            <p:ph idx="1"/>
          </p:nvPr>
        </p:nvSpPr>
        <p:spPr/>
        <p:txBody>
          <a:bodyPr>
            <a:normAutofit lnSpcReduction="10000"/>
          </a:bodyPr>
          <a:lstStyle/>
          <a:p>
            <a:pPr fontAlgn="base"/>
            <a:r>
              <a:rPr lang="en-GB" sz="3200" dirty="0"/>
              <a:t>Social factors include socioeconomic status, culture, technology, and religion. </a:t>
            </a:r>
          </a:p>
          <a:p>
            <a:pPr fontAlgn="base"/>
            <a:r>
              <a:rPr lang="en-GB" sz="3200" dirty="0"/>
              <a:t>For instance, losing one’s job, a close relative/family member or ending a romantic relationship may place one at risk of stress and illness. </a:t>
            </a:r>
          </a:p>
          <a:p>
            <a:pPr fontAlgn="base"/>
            <a:r>
              <a:rPr lang="en-GB" sz="3200" dirty="0"/>
              <a:t>Such life events may predispose an individual to developing depression, which may, in turn, contribute to physical health problems. </a:t>
            </a:r>
          </a:p>
          <a:p>
            <a:pPr marL="0" indent="0">
              <a:buNone/>
            </a:pPr>
            <a:br>
              <a:rPr lang="en-GB" dirty="0"/>
            </a:br>
            <a:endParaRPr lang="en-KE" dirty="0"/>
          </a:p>
        </p:txBody>
      </p:sp>
    </p:spTree>
    <p:extLst>
      <p:ext uri="{BB962C8B-B14F-4D97-AF65-F5344CB8AC3E}">
        <p14:creationId xmlns:p14="http://schemas.microsoft.com/office/powerpoint/2010/main" val="1141669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B836B-23B9-784F-A865-1582C2E1BF17}"/>
              </a:ext>
            </a:extLst>
          </p:cNvPr>
          <p:cNvSpPr>
            <a:spLocks noGrp="1"/>
          </p:cNvSpPr>
          <p:nvPr>
            <p:ph type="title"/>
          </p:nvPr>
        </p:nvSpPr>
        <p:spPr/>
        <p:txBody>
          <a:bodyPr/>
          <a:lstStyle/>
          <a:p>
            <a:r>
              <a:rPr lang="en-GB" dirty="0"/>
              <a:t>C</a:t>
            </a:r>
            <a:r>
              <a:rPr lang="en-KE" dirty="0"/>
              <a:t>ont. </a:t>
            </a:r>
          </a:p>
        </p:txBody>
      </p:sp>
      <p:sp>
        <p:nvSpPr>
          <p:cNvPr id="3" name="Content Placeholder 2">
            <a:extLst>
              <a:ext uri="{FF2B5EF4-FFF2-40B4-BE49-F238E27FC236}">
                <a16:creationId xmlns:a16="http://schemas.microsoft.com/office/drawing/2014/main" id="{E4885B3B-7791-2C43-B155-097BC52C58D9}"/>
              </a:ext>
            </a:extLst>
          </p:cNvPr>
          <p:cNvSpPr>
            <a:spLocks noGrp="1"/>
          </p:cNvSpPr>
          <p:nvPr>
            <p:ph idx="1"/>
          </p:nvPr>
        </p:nvSpPr>
        <p:spPr/>
        <p:txBody>
          <a:bodyPr/>
          <a:lstStyle/>
          <a:p>
            <a:pPr fontAlgn="base"/>
            <a:r>
              <a:rPr lang="en-GB" sz="3200" dirty="0"/>
              <a:t>The impact of social factors is widely recognized in mental disorders such as anorexia nervosa (a disorder characterized by excessive and purposeful weight loss despite evidence of low body weight). </a:t>
            </a:r>
          </a:p>
          <a:p>
            <a:pPr fontAlgn="base"/>
            <a:r>
              <a:rPr lang="en-GB" sz="3200" dirty="0"/>
              <a:t>The fashion industry and the media promote an unhealthy standard of beauty that emphasizes thinness over health. </a:t>
            </a:r>
          </a:p>
          <a:p>
            <a:pPr fontAlgn="base"/>
            <a:r>
              <a:rPr lang="en-GB" sz="3200" dirty="0"/>
              <a:t>This exerts social pressure to attain this “ideal” body image despite the obvious health risks.</a:t>
            </a:r>
          </a:p>
          <a:p>
            <a:endParaRPr lang="en-KE" dirty="0"/>
          </a:p>
        </p:txBody>
      </p:sp>
    </p:spTree>
    <p:extLst>
      <p:ext uri="{BB962C8B-B14F-4D97-AF65-F5344CB8AC3E}">
        <p14:creationId xmlns:p14="http://schemas.microsoft.com/office/powerpoint/2010/main" val="2204071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E100D-B895-014A-BD7F-CDDECC03FF57}"/>
              </a:ext>
            </a:extLst>
          </p:cNvPr>
          <p:cNvSpPr>
            <a:spLocks noGrp="1"/>
          </p:cNvSpPr>
          <p:nvPr>
            <p:ph type="title"/>
          </p:nvPr>
        </p:nvSpPr>
        <p:spPr/>
        <p:txBody>
          <a:bodyPr/>
          <a:lstStyle/>
          <a:p>
            <a:r>
              <a:rPr lang="en-GB" dirty="0"/>
              <a:t>C</a:t>
            </a:r>
            <a:r>
              <a:rPr lang="en-KE" dirty="0"/>
              <a:t>ont. </a:t>
            </a:r>
          </a:p>
        </p:txBody>
      </p:sp>
      <p:sp>
        <p:nvSpPr>
          <p:cNvPr id="3" name="Content Placeholder 2">
            <a:extLst>
              <a:ext uri="{FF2B5EF4-FFF2-40B4-BE49-F238E27FC236}">
                <a16:creationId xmlns:a16="http://schemas.microsoft.com/office/drawing/2014/main" id="{C5C3B1E0-966F-B546-B697-DB892BAC1E01}"/>
              </a:ext>
            </a:extLst>
          </p:cNvPr>
          <p:cNvSpPr>
            <a:spLocks noGrp="1"/>
          </p:cNvSpPr>
          <p:nvPr>
            <p:ph idx="1"/>
          </p:nvPr>
        </p:nvSpPr>
        <p:spPr/>
        <p:txBody>
          <a:bodyPr>
            <a:normAutofit/>
          </a:bodyPr>
          <a:lstStyle/>
          <a:p>
            <a:r>
              <a:rPr lang="en-GB" sz="3200" dirty="0"/>
              <a:t>By understanding psychological factors that influence health, and constructively applying that knowledge, health psychologists can improve people’s health by working directly with individual patients or indirectly in large-scale public health programs. </a:t>
            </a:r>
          </a:p>
          <a:p>
            <a:r>
              <a:rPr lang="en-GB" sz="3200" dirty="0"/>
              <a:t>In addition, health psychologists can help train other healthcare professionals (e.g., physicians and nurses) to apply the knowledge the discipline has generated, when treating patients. </a:t>
            </a:r>
          </a:p>
        </p:txBody>
      </p:sp>
    </p:spTree>
    <p:extLst>
      <p:ext uri="{BB962C8B-B14F-4D97-AF65-F5344CB8AC3E}">
        <p14:creationId xmlns:p14="http://schemas.microsoft.com/office/powerpoint/2010/main" val="119012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FE3E5-7FD5-FE4A-9311-C4072A46830F}"/>
              </a:ext>
            </a:extLst>
          </p:cNvPr>
          <p:cNvSpPr>
            <a:spLocks noGrp="1"/>
          </p:cNvSpPr>
          <p:nvPr>
            <p:ph type="title"/>
          </p:nvPr>
        </p:nvSpPr>
        <p:spPr/>
        <p:txBody>
          <a:bodyPr>
            <a:normAutofit fontScale="90000"/>
          </a:bodyPr>
          <a:lstStyle/>
          <a:p>
            <a:br>
              <a:rPr lang="en-GB" b="1" dirty="0"/>
            </a:br>
            <a:br>
              <a:rPr lang="en-GB" b="1" dirty="0"/>
            </a:br>
            <a:r>
              <a:rPr lang="en-GB" b="1" dirty="0"/>
              <a:t>cont.</a:t>
            </a:r>
            <a:endParaRPr lang="en-KE" dirty="0"/>
          </a:p>
        </p:txBody>
      </p:sp>
      <p:sp>
        <p:nvSpPr>
          <p:cNvPr id="3" name="Content Placeholder 2">
            <a:extLst>
              <a:ext uri="{FF2B5EF4-FFF2-40B4-BE49-F238E27FC236}">
                <a16:creationId xmlns:a16="http://schemas.microsoft.com/office/drawing/2014/main" id="{C503DCD8-3385-9D45-845B-71F0BD54007F}"/>
              </a:ext>
            </a:extLst>
          </p:cNvPr>
          <p:cNvSpPr>
            <a:spLocks noGrp="1"/>
          </p:cNvSpPr>
          <p:nvPr>
            <p:ph idx="1"/>
          </p:nvPr>
        </p:nvSpPr>
        <p:spPr/>
        <p:txBody>
          <a:bodyPr>
            <a:normAutofit fontScale="92500"/>
          </a:bodyPr>
          <a:lstStyle/>
          <a:p>
            <a:pPr marL="0" indent="0" fontAlgn="base">
              <a:buNone/>
            </a:pPr>
            <a:r>
              <a:rPr lang="en-GB" sz="3500" b="1" dirty="0"/>
              <a:t>Cultural Factors</a:t>
            </a:r>
            <a:endParaRPr lang="en-GB" sz="3500" dirty="0"/>
          </a:p>
          <a:p>
            <a:pPr fontAlgn="base"/>
            <a:r>
              <a:rPr lang="en-GB" sz="3200" dirty="0"/>
              <a:t>Cultural factors are included in the social domain. For instance, belief systems of different cultural groups contribute to their general health. </a:t>
            </a:r>
          </a:p>
          <a:p>
            <a:pPr fontAlgn="base"/>
            <a:r>
              <a:rPr lang="en-GB" sz="3200" dirty="0"/>
              <a:t>For example, anorexia is common western cultures where emphasis on thinness in women is a sign of beauty.</a:t>
            </a:r>
          </a:p>
          <a:p>
            <a:pPr fontAlgn="base"/>
            <a:r>
              <a:rPr lang="en-GB" sz="3200" dirty="0"/>
              <a:t>Culture can vary across a small geographic range, such as from lower-income to higher-income areas, and rates of disease and illness differ across these communities accordingly. </a:t>
            </a:r>
          </a:p>
          <a:p>
            <a:pPr marL="0" indent="0">
              <a:buNone/>
            </a:pPr>
            <a:endParaRPr lang="en-KE" dirty="0"/>
          </a:p>
        </p:txBody>
      </p:sp>
    </p:spTree>
    <p:extLst>
      <p:ext uri="{BB962C8B-B14F-4D97-AF65-F5344CB8AC3E}">
        <p14:creationId xmlns:p14="http://schemas.microsoft.com/office/powerpoint/2010/main" val="13411321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CBE88-B1CC-6D46-A81D-C877E288B1FA}"/>
              </a:ext>
            </a:extLst>
          </p:cNvPr>
          <p:cNvSpPr>
            <a:spLocks noGrp="1"/>
          </p:cNvSpPr>
          <p:nvPr>
            <p:ph type="title"/>
          </p:nvPr>
        </p:nvSpPr>
        <p:spPr/>
        <p:txBody>
          <a:bodyPr/>
          <a:lstStyle/>
          <a:p>
            <a:r>
              <a:rPr lang="en-GB" dirty="0"/>
              <a:t>C</a:t>
            </a:r>
            <a:r>
              <a:rPr lang="en-KE" dirty="0"/>
              <a:t>ont.</a:t>
            </a:r>
          </a:p>
        </p:txBody>
      </p:sp>
      <p:sp>
        <p:nvSpPr>
          <p:cNvPr id="3" name="Content Placeholder 2">
            <a:extLst>
              <a:ext uri="{FF2B5EF4-FFF2-40B4-BE49-F238E27FC236}">
                <a16:creationId xmlns:a16="http://schemas.microsoft.com/office/drawing/2014/main" id="{7F8EA003-EEFB-9540-A697-48A9BD931762}"/>
              </a:ext>
            </a:extLst>
          </p:cNvPr>
          <p:cNvSpPr>
            <a:spLocks noGrp="1"/>
          </p:cNvSpPr>
          <p:nvPr>
            <p:ph idx="1"/>
          </p:nvPr>
        </p:nvSpPr>
        <p:spPr/>
        <p:txBody>
          <a:bodyPr>
            <a:normAutofit/>
          </a:bodyPr>
          <a:lstStyle/>
          <a:p>
            <a:pPr fontAlgn="base"/>
            <a:r>
              <a:rPr lang="en-GB" sz="3200" dirty="0"/>
              <a:t>Research suggests that the environment can actually alter an individual’s genetic makeup. </a:t>
            </a:r>
          </a:p>
          <a:p>
            <a:pPr fontAlgn="base"/>
            <a:r>
              <a:rPr lang="en-GB" sz="3200" dirty="0"/>
              <a:t>For instance, research shows that individuals exposed to over-crowding and poverty are more at risk for developing depression with actual genetic mutations forming over only a single generation.</a:t>
            </a:r>
          </a:p>
          <a:p>
            <a:pPr marL="0" indent="0" fontAlgn="base">
              <a:buNone/>
            </a:pPr>
            <a:endParaRPr lang="en-GB" sz="3200" dirty="0"/>
          </a:p>
          <a:p>
            <a:endParaRPr lang="en-KE" dirty="0"/>
          </a:p>
        </p:txBody>
      </p:sp>
    </p:spTree>
    <p:extLst>
      <p:ext uri="{BB962C8B-B14F-4D97-AF65-F5344CB8AC3E}">
        <p14:creationId xmlns:p14="http://schemas.microsoft.com/office/powerpoint/2010/main" val="14437686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A5609-882E-914C-94F3-7C6776E828E2}"/>
              </a:ext>
            </a:extLst>
          </p:cNvPr>
          <p:cNvSpPr>
            <a:spLocks noGrp="1"/>
          </p:cNvSpPr>
          <p:nvPr>
            <p:ph type="title"/>
          </p:nvPr>
        </p:nvSpPr>
        <p:spPr/>
        <p:txBody>
          <a:bodyPr>
            <a:normAutofit fontScale="90000"/>
          </a:bodyPr>
          <a:lstStyle/>
          <a:p>
            <a:br>
              <a:rPr lang="en-GB" dirty="0">
                <a:solidFill>
                  <a:srgbClr val="00B050"/>
                </a:solidFill>
              </a:rPr>
            </a:br>
            <a:r>
              <a:rPr lang="en-GB" dirty="0"/>
              <a:t>Note-health psychologist</a:t>
            </a:r>
            <a:br>
              <a:rPr lang="en-GB" dirty="0"/>
            </a:br>
            <a:endParaRPr lang="en-KE" dirty="0"/>
          </a:p>
        </p:txBody>
      </p:sp>
      <p:sp>
        <p:nvSpPr>
          <p:cNvPr id="3" name="Content Placeholder 2">
            <a:extLst>
              <a:ext uri="{FF2B5EF4-FFF2-40B4-BE49-F238E27FC236}">
                <a16:creationId xmlns:a16="http://schemas.microsoft.com/office/drawing/2014/main" id="{5E2789B9-0ED2-A147-98FE-E5BD2A661834}"/>
              </a:ext>
            </a:extLst>
          </p:cNvPr>
          <p:cNvSpPr>
            <a:spLocks noGrp="1"/>
          </p:cNvSpPr>
          <p:nvPr>
            <p:ph idx="1"/>
          </p:nvPr>
        </p:nvSpPr>
        <p:spPr/>
        <p:txBody>
          <a:bodyPr>
            <a:normAutofit lnSpcReduction="10000"/>
          </a:bodyPr>
          <a:lstStyle/>
          <a:p>
            <a:r>
              <a:rPr lang="en-GB" sz="3600" dirty="0"/>
              <a:t>Health psychologists work in a variety of settings:</a:t>
            </a:r>
          </a:p>
          <a:p>
            <a:pPr marL="0" indent="0">
              <a:buNone/>
            </a:pPr>
            <a:r>
              <a:rPr lang="en-GB" sz="3600" dirty="0"/>
              <a:t> </a:t>
            </a:r>
            <a:r>
              <a:rPr lang="en-GB" sz="3600" dirty="0" err="1"/>
              <a:t>i</a:t>
            </a:r>
            <a:r>
              <a:rPr lang="en-GB" sz="3600" dirty="0"/>
              <a:t>) Alongside other medical professionals in hospitals/clinics, </a:t>
            </a:r>
          </a:p>
          <a:p>
            <a:pPr marL="0" indent="0">
              <a:buNone/>
            </a:pPr>
            <a:r>
              <a:rPr lang="en-GB" sz="3600" dirty="0"/>
              <a:t>ii) In public health departments working on large-scale </a:t>
            </a:r>
            <a:r>
              <a:rPr lang="en-GB" sz="3600" dirty="0" err="1"/>
              <a:t>behavior</a:t>
            </a:r>
            <a:r>
              <a:rPr lang="en-GB" sz="3600" dirty="0"/>
              <a:t> change programs. </a:t>
            </a:r>
          </a:p>
          <a:p>
            <a:pPr marL="0" indent="0">
              <a:buNone/>
            </a:pPr>
            <a:r>
              <a:rPr lang="en-GB" sz="3600" dirty="0"/>
              <a:t>iii) Health promotion programs, </a:t>
            </a:r>
          </a:p>
          <a:p>
            <a:pPr marL="0" indent="0">
              <a:buNone/>
            </a:pPr>
            <a:r>
              <a:rPr lang="en-GB" sz="3600" dirty="0"/>
              <a:t>iv) In universities and medical schools where they teach and conduct research.</a:t>
            </a:r>
          </a:p>
        </p:txBody>
      </p:sp>
    </p:spTree>
    <p:extLst>
      <p:ext uri="{BB962C8B-B14F-4D97-AF65-F5344CB8AC3E}">
        <p14:creationId xmlns:p14="http://schemas.microsoft.com/office/powerpoint/2010/main" val="2152365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CFCCA-AEA1-6F42-831D-41FB1A8C1957}"/>
              </a:ext>
            </a:extLst>
          </p:cNvPr>
          <p:cNvSpPr>
            <a:spLocks noGrp="1"/>
          </p:cNvSpPr>
          <p:nvPr>
            <p:ph type="title"/>
          </p:nvPr>
        </p:nvSpPr>
        <p:spPr/>
        <p:txBody>
          <a:bodyPr/>
          <a:lstStyle/>
          <a:p>
            <a:r>
              <a:rPr lang="en-GB" dirty="0"/>
              <a:t>C</a:t>
            </a:r>
            <a:r>
              <a:rPr lang="en-KE" dirty="0"/>
              <a:t>ont.</a:t>
            </a:r>
          </a:p>
        </p:txBody>
      </p:sp>
      <p:sp>
        <p:nvSpPr>
          <p:cNvPr id="3" name="Content Placeholder 2">
            <a:extLst>
              <a:ext uri="{FF2B5EF4-FFF2-40B4-BE49-F238E27FC236}">
                <a16:creationId xmlns:a16="http://schemas.microsoft.com/office/drawing/2014/main" id="{12D9DD40-F50A-4C46-92BC-6871B63582C3}"/>
              </a:ext>
            </a:extLst>
          </p:cNvPr>
          <p:cNvSpPr>
            <a:spLocks noGrp="1"/>
          </p:cNvSpPr>
          <p:nvPr>
            <p:ph idx="1"/>
          </p:nvPr>
        </p:nvSpPr>
        <p:spPr/>
        <p:txBody>
          <a:bodyPr>
            <a:normAutofit/>
          </a:bodyPr>
          <a:lstStyle/>
          <a:p>
            <a:r>
              <a:rPr lang="en-GB" sz="3200" b="1" dirty="0"/>
              <a:t>Health psychologists</a:t>
            </a:r>
            <a:r>
              <a:rPr lang="en-GB" sz="3200" dirty="0"/>
              <a:t> are specially trained to help people deal with the </a:t>
            </a:r>
            <a:r>
              <a:rPr lang="en-GB" sz="3200" b="1" dirty="0"/>
              <a:t>psychological</a:t>
            </a:r>
            <a:r>
              <a:rPr lang="en-GB" sz="3200" dirty="0"/>
              <a:t> and emotional aspects of </a:t>
            </a:r>
            <a:r>
              <a:rPr lang="en-GB" sz="3200" b="1" dirty="0"/>
              <a:t>health</a:t>
            </a:r>
            <a:r>
              <a:rPr lang="en-GB" sz="3200" dirty="0"/>
              <a:t> and illness.</a:t>
            </a:r>
          </a:p>
          <a:p>
            <a:r>
              <a:rPr lang="en-GB" sz="3200" dirty="0"/>
              <a:t> They are also trained to support people who are chronically ill. </a:t>
            </a:r>
          </a:p>
          <a:p>
            <a:r>
              <a:rPr lang="en-GB" sz="3200" dirty="0"/>
              <a:t>They promote health, prevent illness and improve health care systems.</a:t>
            </a:r>
          </a:p>
          <a:p>
            <a:pPr marL="0" indent="0">
              <a:buNone/>
            </a:pPr>
            <a:endParaRPr lang="en-KE" sz="3200" dirty="0"/>
          </a:p>
        </p:txBody>
      </p:sp>
    </p:spTree>
    <p:extLst>
      <p:ext uri="{BB962C8B-B14F-4D97-AF65-F5344CB8AC3E}">
        <p14:creationId xmlns:p14="http://schemas.microsoft.com/office/powerpoint/2010/main" val="3857837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FC992-2579-FB41-82DC-C57A12506AE3}"/>
              </a:ext>
            </a:extLst>
          </p:cNvPr>
          <p:cNvSpPr>
            <a:spLocks noGrp="1"/>
          </p:cNvSpPr>
          <p:nvPr>
            <p:ph type="title"/>
          </p:nvPr>
        </p:nvSpPr>
        <p:spPr/>
        <p:txBody>
          <a:bodyPr>
            <a:normAutofit fontScale="90000"/>
          </a:bodyPr>
          <a:lstStyle/>
          <a:p>
            <a:br>
              <a:rPr lang="en-GB" dirty="0"/>
            </a:br>
            <a:r>
              <a:rPr lang="en-GB" dirty="0"/>
              <a:t>cont. </a:t>
            </a:r>
            <a:br>
              <a:rPr lang="en-GB" dirty="0"/>
            </a:br>
            <a:endParaRPr lang="en-KE" dirty="0"/>
          </a:p>
        </p:txBody>
      </p:sp>
      <p:sp>
        <p:nvSpPr>
          <p:cNvPr id="3" name="Content Placeholder 2">
            <a:extLst>
              <a:ext uri="{FF2B5EF4-FFF2-40B4-BE49-F238E27FC236}">
                <a16:creationId xmlns:a16="http://schemas.microsoft.com/office/drawing/2014/main" id="{E9F4BBF4-8F95-0048-8C39-2CA8481BD3A8}"/>
              </a:ext>
            </a:extLst>
          </p:cNvPr>
          <p:cNvSpPr>
            <a:spLocks noGrp="1"/>
          </p:cNvSpPr>
          <p:nvPr>
            <p:ph idx="1"/>
          </p:nvPr>
        </p:nvSpPr>
        <p:spPr/>
        <p:txBody>
          <a:bodyPr>
            <a:normAutofit/>
          </a:bodyPr>
          <a:lstStyle/>
          <a:p>
            <a:r>
              <a:rPr lang="en-GB" dirty="0"/>
              <a:t>Community Health Advocacy. Community health is public health at the grassroots level. ...</a:t>
            </a:r>
          </a:p>
          <a:p>
            <a:r>
              <a:rPr lang="en-GB" dirty="0"/>
              <a:t>Public Health Expert. Public health experts address health issues on the population level. ...</a:t>
            </a:r>
          </a:p>
          <a:p>
            <a:r>
              <a:rPr lang="en-GB" dirty="0"/>
              <a:t>Wellness Expert. Psychological health impacts the human physical condition. ...</a:t>
            </a:r>
          </a:p>
          <a:p>
            <a:r>
              <a:rPr lang="en-GB" dirty="0"/>
              <a:t>Health Researcher. ...</a:t>
            </a:r>
          </a:p>
          <a:p>
            <a:r>
              <a:rPr lang="en-GB" dirty="0"/>
              <a:t>Educator and Trainer.</a:t>
            </a:r>
          </a:p>
          <a:p>
            <a:pPr marL="0" indent="0">
              <a:buNone/>
            </a:pPr>
            <a:endParaRPr lang="en-KE" dirty="0"/>
          </a:p>
        </p:txBody>
      </p:sp>
    </p:spTree>
    <p:extLst>
      <p:ext uri="{BB962C8B-B14F-4D97-AF65-F5344CB8AC3E}">
        <p14:creationId xmlns:p14="http://schemas.microsoft.com/office/powerpoint/2010/main" val="34578303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1089</TotalTime>
  <Words>1291</Words>
  <Application>Microsoft Macintosh PowerPoint</Application>
  <PresentationFormat>Widescreen</PresentationFormat>
  <Paragraphs>76</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APS 405</vt:lpstr>
      <vt:lpstr>What is health psychology?</vt:lpstr>
      <vt:lpstr>Nature and Scope of Health Psychology </vt:lpstr>
      <vt:lpstr>Cont. </vt:lpstr>
      <vt:lpstr>Cont. </vt:lpstr>
      <vt:lpstr>Cont.</vt:lpstr>
      <vt:lpstr>Cont. </vt:lpstr>
      <vt:lpstr>Cont.</vt:lpstr>
      <vt:lpstr>Cont. </vt:lpstr>
      <vt:lpstr> 3. Social Influences on Health</vt:lpstr>
      <vt:lpstr>Cont. </vt:lpstr>
      <vt:lpstr>Cont. </vt:lpstr>
      <vt:lpstr>  cont.</vt:lpstr>
      <vt:lpstr>Cont.</vt:lpstr>
      <vt:lpstr> Note-health psychologist </vt:lpstr>
      <vt:lpstr>Cont.</vt:lpstr>
      <vt:lpstr> cont.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APS 405</dc:title>
  <dc:creator>njeri.muturi2014@gmail.com</dc:creator>
  <cp:lastModifiedBy>njeri.muturi2014@gmail.com</cp:lastModifiedBy>
  <cp:revision>30</cp:revision>
  <dcterms:created xsi:type="dcterms:W3CDTF">2021-01-12T06:53:10Z</dcterms:created>
  <dcterms:modified xsi:type="dcterms:W3CDTF">2023-10-03T17:37:27Z</dcterms:modified>
</cp:coreProperties>
</file>