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0" r:id="rId5"/>
    <p:sldId id="271" r:id="rId6"/>
    <p:sldId id="272" r:id="rId7"/>
    <p:sldId id="274" r:id="rId8"/>
    <p:sldId id="273" r:id="rId9"/>
    <p:sldId id="275" r:id="rId10"/>
    <p:sldId id="261" r:id="rId11"/>
    <p:sldId id="276" r:id="rId12"/>
    <p:sldId id="262" r:id="rId13"/>
    <p:sldId id="263" r:id="rId14"/>
    <p:sldId id="264" r:id="rId15"/>
    <p:sldId id="277" r:id="rId16"/>
  </p:sldIdLst>
  <p:sldSz cx="12192000" cy="6858000"/>
  <p:notesSz cx="6858000" cy="9144000"/>
  <p:defaultText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444"/>
  </p:normalViewPr>
  <p:slideViewPr>
    <p:cSldViewPr snapToGrid="0" snapToObjects="1">
      <p:cViewPr varScale="1">
        <p:scale>
          <a:sx n="102" d="100"/>
          <a:sy n="102" d="100"/>
        </p:scale>
        <p:origin x="95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E2AF0-82F8-EE45-9943-3D3234820D6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KE"/>
          </a:p>
        </p:txBody>
      </p:sp>
      <p:sp>
        <p:nvSpPr>
          <p:cNvPr id="3" name="Subtitle 2">
            <a:extLst>
              <a:ext uri="{FF2B5EF4-FFF2-40B4-BE49-F238E27FC236}">
                <a16:creationId xmlns:a16="http://schemas.microsoft.com/office/drawing/2014/main" id="{1B9092B6-AEEC-654F-8588-53F5A50F6F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KE"/>
          </a:p>
        </p:txBody>
      </p:sp>
      <p:sp>
        <p:nvSpPr>
          <p:cNvPr id="4" name="Date Placeholder 3">
            <a:extLst>
              <a:ext uri="{FF2B5EF4-FFF2-40B4-BE49-F238E27FC236}">
                <a16:creationId xmlns:a16="http://schemas.microsoft.com/office/drawing/2014/main" id="{BD8A817D-CB7B-2240-BAB7-98402D204A9C}"/>
              </a:ext>
            </a:extLst>
          </p:cNvPr>
          <p:cNvSpPr>
            <a:spLocks noGrp="1"/>
          </p:cNvSpPr>
          <p:nvPr>
            <p:ph type="dt" sz="half" idx="10"/>
          </p:nvPr>
        </p:nvSpPr>
        <p:spPr/>
        <p:txBody>
          <a:bodyPr/>
          <a:lstStyle/>
          <a:p>
            <a:fld id="{C4C62005-B023-C04E-9E70-49FF7FDB8843}" type="datetimeFigureOut">
              <a:rPr lang="en-KE" smtClean="0"/>
              <a:t>03/10/2023</a:t>
            </a:fld>
            <a:endParaRPr lang="en-KE"/>
          </a:p>
        </p:txBody>
      </p:sp>
      <p:sp>
        <p:nvSpPr>
          <p:cNvPr id="5" name="Footer Placeholder 4">
            <a:extLst>
              <a:ext uri="{FF2B5EF4-FFF2-40B4-BE49-F238E27FC236}">
                <a16:creationId xmlns:a16="http://schemas.microsoft.com/office/drawing/2014/main" id="{FB988329-9CB8-4D4B-A920-22F2C1ED52F7}"/>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A9A0512F-E481-0444-91E6-0D2563346E52}"/>
              </a:ext>
            </a:extLst>
          </p:cNvPr>
          <p:cNvSpPr>
            <a:spLocks noGrp="1"/>
          </p:cNvSpPr>
          <p:nvPr>
            <p:ph type="sldNum" sz="quarter" idx="12"/>
          </p:nvPr>
        </p:nvSpPr>
        <p:spPr/>
        <p:txBody>
          <a:bodyPr/>
          <a:lstStyle/>
          <a:p>
            <a:fld id="{D9AB5E54-3E77-4048-BBCC-D07DA3B3AFE8}" type="slidenum">
              <a:rPr lang="en-KE" smtClean="0"/>
              <a:t>‹#›</a:t>
            </a:fld>
            <a:endParaRPr lang="en-KE"/>
          </a:p>
        </p:txBody>
      </p:sp>
    </p:spTree>
    <p:extLst>
      <p:ext uri="{BB962C8B-B14F-4D97-AF65-F5344CB8AC3E}">
        <p14:creationId xmlns:p14="http://schemas.microsoft.com/office/powerpoint/2010/main" val="656231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906D3-EC56-9444-948F-1C2F7DC064EA}"/>
              </a:ext>
            </a:extLst>
          </p:cNvPr>
          <p:cNvSpPr>
            <a:spLocks noGrp="1"/>
          </p:cNvSpPr>
          <p:nvPr>
            <p:ph type="title"/>
          </p:nvPr>
        </p:nvSpPr>
        <p:spPr/>
        <p:txBody>
          <a:bodyPr/>
          <a:lstStyle/>
          <a:p>
            <a:r>
              <a:rPr lang="en-GB"/>
              <a:t>Click to edit Master title style</a:t>
            </a:r>
            <a:endParaRPr lang="en-KE"/>
          </a:p>
        </p:txBody>
      </p:sp>
      <p:sp>
        <p:nvSpPr>
          <p:cNvPr id="3" name="Content Placeholder 2">
            <a:extLst>
              <a:ext uri="{FF2B5EF4-FFF2-40B4-BE49-F238E27FC236}">
                <a16:creationId xmlns:a16="http://schemas.microsoft.com/office/drawing/2014/main" id="{1842DA67-4D4C-E841-B43D-080B8BC0A55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4" name="Date Placeholder 3">
            <a:extLst>
              <a:ext uri="{FF2B5EF4-FFF2-40B4-BE49-F238E27FC236}">
                <a16:creationId xmlns:a16="http://schemas.microsoft.com/office/drawing/2014/main" id="{533639FD-FFBC-204F-84A2-3F4BF6057B3A}"/>
              </a:ext>
            </a:extLst>
          </p:cNvPr>
          <p:cNvSpPr>
            <a:spLocks noGrp="1"/>
          </p:cNvSpPr>
          <p:nvPr>
            <p:ph type="dt" sz="half" idx="10"/>
          </p:nvPr>
        </p:nvSpPr>
        <p:spPr/>
        <p:txBody>
          <a:bodyPr/>
          <a:lstStyle/>
          <a:p>
            <a:fld id="{C4C62005-B023-C04E-9E70-49FF7FDB8843}" type="datetimeFigureOut">
              <a:rPr lang="en-KE" smtClean="0"/>
              <a:t>03/10/2023</a:t>
            </a:fld>
            <a:endParaRPr lang="en-KE"/>
          </a:p>
        </p:txBody>
      </p:sp>
      <p:sp>
        <p:nvSpPr>
          <p:cNvPr id="5" name="Footer Placeholder 4">
            <a:extLst>
              <a:ext uri="{FF2B5EF4-FFF2-40B4-BE49-F238E27FC236}">
                <a16:creationId xmlns:a16="http://schemas.microsoft.com/office/drawing/2014/main" id="{3F83415F-25A9-4A44-A5D2-A09EE89D4703}"/>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55C882EE-B87E-1C4F-B241-75ED00FFADE9}"/>
              </a:ext>
            </a:extLst>
          </p:cNvPr>
          <p:cNvSpPr>
            <a:spLocks noGrp="1"/>
          </p:cNvSpPr>
          <p:nvPr>
            <p:ph type="sldNum" sz="quarter" idx="12"/>
          </p:nvPr>
        </p:nvSpPr>
        <p:spPr/>
        <p:txBody>
          <a:bodyPr/>
          <a:lstStyle/>
          <a:p>
            <a:fld id="{D9AB5E54-3E77-4048-BBCC-D07DA3B3AFE8}" type="slidenum">
              <a:rPr lang="en-KE" smtClean="0"/>
              <a:t>‹#›</a:t>
            </a:fld>
            <a:endParaRPr lang="en-KE"/>
          </a:p>
        </p:txBody>
      </p:sp>
    </p:spTree>
    <p:extLst>
      <p:ext uri="{BB962C8B-B14F-4D97-AF65-F5344CB8AC3E}">
        <p14:creationId xmlns:p14="http://schemas.microsoft.com/office/powerpoint/2010/main" val="4058115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548CC-094C-9341-98EA-A9420F6DE6B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KE"/>
          </a:p>
        </p:txBody>
      </p:sp>
      <p:sp>
        <p:nvSpPr>
          <p:cNvPr id="3" name="Text Placeholder 2">
            <a:extLst>
              <a:ext uri="{FF2B5EF4-FFF2-40B4-BE49-F238E27FC236}">
                <a16:creationId xmlns:a16="http://schemas.microsoft.com/office/drawing/2014/main" id="{DE74CC08-B6A8-E74E-A2B7-4892C963C6E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6EF7293-B217-B648-BE1A-570DE0504224}"/>
              </a:ext>
            </a:extLst>
          </p:cNvPr>
          <p:cNvSpPr>
            <a:spLocks noGrp="1"/>
          </p:cNvSpPr>
          <p:nvPr>
            <p:ph type="dt" sz="half" idx="10"/>
          </p:nvPr>
        </p:nvSpPr>
        <p:spPr/>
        <p:txBody>
          <a:bodyPr/>
          <a:lstStyle/>
          <a:p>
            <a:fld id="{C4C62005-B023-C04E-9E70-49FF7FDB8843}" type="datetimeFigureOut">
              <a:rPr lang="en-KE" smtClean="0"/>
              <a:t>03/10/2023</a:t>
            </a:fld>
            <a:endParaRPr lang="en-KE"/>
          </a:p>
        </p:txBody>
      </p:sp>
      <p:sp>
        <p:nvSpPr>
          <p:cNvPr id="5" name="Footer Placeholder 4">
            <a:extLst>
              <a:ext uri="{FF2B5EF4-FFF2-40B4-BE49-F238E27FC236}">
                <a16:creationId xmlns:a16="http://schemas.microsoft.com/office/drawing/2014/main" id="{76A99B9D-BE72-1947-BDC6-0CF067B29C26}"/>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F54D311F-A1DF-364B-B904-F5520036D1A4}"/>
              </a:ext>
            </a:extLst>
          </p:cNvPr>
          <p:cNvSpPr>
            <a:spLocks noGrp="1"/>
          </p:cNvSpPr>
          <p:nvPr>
            <p:ph type="sldNum" sz="quarter" idx="12"/>
          </p:nvPr>
        </p:nvSpPr>
        <p:spPr/>
        <p:txBody>
          <a:bodyPr/>
          <a:lstStyle/>
          <a:p>
            <a:fld id="{D9AB5E54-3E77-4048-BBCC-D07DA3B3AFE8}" type="slidenum">
              <a:rPr lang="en-KE" smtClean="0"/>
              <a:t>‹#›</a:t>
            </a:fld>
            <a:endParaRPr lang="en-KE"/>
          </a:p>
        </p:txBody>
      </p:sp>
    </p:spTree>
    <p:extLst>
      <p:ext uri="{BB962C8B-B14F-4D97-AF65-F5344CB8AC3E}">
        <p14:creationId xmlns:p14="http://schemas.microsoft.com/office/powerpoint/2010/main" val="27598504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82890-1FE9-AD49-95EF-066610B1EC4A}"/>
              </a:ext>
            </a:extLst>
          </p:cNvPr>
          <p:cNvSpPr>
            <a:spLocks noGrp="1"/>
          </p:cNvSpPr>
          <p:nvPr>
            <p:ph type="title"/>
          </p:nvPr>
        </p:nvSpPr>
        <p:spPr/>
        <p:txBody>
          <a:bodyPr/>
          <a:lstStyle/>
          <a:p>
            <a:r>
              <a:rPr lang="en-GB"/>
              <a:t>Click to edit Master title style</a:t>
            </a:r>
            <a:endParaRPr lang="en-KE"/>
          </a:p>
        </p:txBody>
      </p:sp>
      <p:sp>
        <p:nvSpPr>
          <p:cNvPr id="3" name="Content Placeholder 2">
            <a:extLst>
              <a:ext uri="{FF2B5EF4-FFF2-40B4-BE49-F238E27FC236}">
                <a16:creationId xmlns:a16="http://schemas.microsoft.com/office/drawing/2014/main" id="{2E76F311-B346-6445-95D7-7A530792756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4" name="Content Placeholder 3">
            <a:extLst>
              <a:ext uri="{FF2B5EF4-FFF2-40B4-BE49-F238E27FC236}">
                <a16:creationId xmlns:a16="http://schemas.microsoft.com/office/drawing/2014/main" id="{F68ED619-F04D-C64B-9232-42F758EC792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5" name="Date Placeholder 4">
            <a:extLst>
              <a:ext uri="{FF2B5EF4-FFF2-40B4-BE49-F238E27FC236}">
                <a16:creationId xmlns:a16="http://schemas.microsoft.com/office/drawing/2014/main" id="{EDF205C1-EDF9-6B43-BC0E-EC4B7AA15E69}"/>
              </a:ext>
            </a:extLst>
          </p:cNvPr>
          <p:cNvSpPr>
            <a:spLocks noGrp="1"/>
          </p:cNvSpPr>
          <p:nvPr>
            <p:ph type="dt" sz="half" idx="10"/>
          </p:nvPr>
        </p:nvSpPr>
        <p:spPr/>
        <p:txBody>
          <a:bodyPr/>
          <a:lstStyle/>
          <a:p>
            <a:fld id="{C4C62005-B023-C04E-9E70-49FF7FDB8843}" type="datetimeFigureOut">
              <a:rPr lang="en-KE" smtClean="0"/>
              <a:t>03/10/2023</a:t>
            </a:fld>
            <a:endParaRPr lang="en-KE"/>
          </a:p>
        </p:txBody>
      </p:sp>
      <p:sp>
        <p:nvSpPr>
          <p:cNvPr id="6" name="Footer Placeholder 5">
            <a:extLst>
              <a:ext uri="{FF2B5EF4-FFF2-40B4-BE49-F238E27FC236}">
                <a16:creationId xmlns:a16="http://schemas.microsoft.com/office/drawing/2014/main" id="{CB9E3FA1-BA16-C545-B730-D2A470A66930}"/>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0378ABC9-AFE4-7F48-A502-7337AE3A6534}"/>
              </a:ext>
            </a:extLst>
          </p:cNvPr>
          <p:cNvSpPr>
            <a:spLocks noGrp="1"/>
          </p:cNvSpPr>
          <p:nvPr>
            <p:ph type="sldNum" sz="quarter" idx="12"/>
          </p:nvPr>
        </p:nvSpPr>
        <p:spPr/>
        <p:txBody>
          <a:bodyPr/>
          <a:lstStyle/>
          <a:p>
            <a:fld id="{D9AB5E54-3E77-4048-BBCC-D07DA3B3AFE8}" type="slidenum">
              <a:rPr lang="en-KE" smtClean="0"/>
              <a:t>‹#›</a:t>
            </a:fld>
            <a:endParaRPr lang="en-KE"/>
          </a:p>
        </p:txBody>
      </p:sp>
    </p:spTree>
    <p:extLst>
      <p:ext uri="{BB962C8B-B14F-4D97-AF65-F5344CB8AC3E}">
        <p14:creationId xmlns:p14="http://schemas.microsoft.com/office/powerpoint/2010/main" val="4113280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2F276-8B88-8B4B-AD03-A4EE58D2D8B7}"/>
              </a:ext>
            </a:extLst>
          </p:cNvPr>
          <p:cNvSpPr>
            <a:spLocks noGrp="1"/>
          </p:cNvSpPr>
          <p:nvPr>
            <p:ph type="title"/>
          </p:nvPr>
        </p:nvSpPr>
        <p:spPr>
          <a:xfrm>
            <a:off x="839788" y="365125"/>
            <a:ext cx="10515600" cy="1325563"/>
          </a:xfrm>
        </p:spPr>
        <p:txBody>
          <a:bodyPr/>
          <a:lstStyle/>
          <a:p>
            <a:r>
              <a:rPr lang="en-GB"/>
              <a:t>Click to edit Master title style</a:t>
            </a:r>
            <a:endParaRPr lang="en-KE"/>
          </a:p>
        </p:txBody>
      </p:sp>
      <p:sp>
        <p:nvSpPr>
          <p:cNvPr id="3" name="Text Placeholder 2">
            <a:extLst>
              <a:ext uri="{FF2B5EF4-FFF2-40B4-BE49-F238E27FC236}">
                <a16:creationId xmlns:a16="http://schemas.microsoft.com/office/drawing/2014/main" id="{979F1AB9-C35A-9D47-A615-4B9D9D2254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D7FB93F-9447-DB4A-8F91-D10ED563625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5" name="Text Placeholder 4">
            <a:extLst>
              <a:ext uri="{FF2B5EF4-FFF2-40B4-BE49-F238E27FC236}">
                <a16:creationId xmlns:a16="http://schemas.microsoft.com/office/drawing/2014/main" id="{8B5B7277-E495-BD44-844E-705F7171A6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9DCF785-CECF-6741-9161-37E3FA8691D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7" name="Date Placeholder 6">
            <a:extLst>
              <a:ext uri="{FF2B5EF4-FFF2-40B4-BE49-F238E27FC236}">
                <a16:creationId xmlns:a16="http://schemas.microsoft.com/office/drawing/2014/main" id="{B4A3F6CA-0657-9843-A52A-A86E2F5958CE}"/>
              </a:ext>
            </a:extLst>
          </p:cNvPr>
          <p:cNvSpPr>
            <a:spLocks noGrp="1"/>
          </p:cNvSpPr>
          <p:nvPr>
            <p:ph type="dt" sz="half" idx="10"/>
          </p:nvPr>
        </p:nvSpPr>
        <p:spPr/>
        <p:txBody>
          <a:bodyPr/>
          <a:lstStyle/>
          <a:p>
            <a:fld id="{C4C62005-B023-C04E-9E70-49FF7FDB8843}" type="datetimeFigureOut">
              <a:rPr lang="en-KE" smtClean="0"/>
              <a:t>03/10/2023</a:t>
            </a:fld>
            <a:endParaRPr lang="en-KE"/>
          </a:p>
        </p:txBody>
      </p:sp>
      <p:sp>
        <p:nvSpPr>
          <p:cNvPr id="8" name="Footer Placeholder 7">
            <a:extLst>
              <a:ext uri="{FF2B5EF4-FFF2-40B4-BE49-F238E27FC236}">
                <a16:creationId xmlns:a16="http://schemas.microsoft.com/office/drawing/2014/main" id="{6FC658D1-FFB7-634F-981B-A70519244DB6}"/>
              </a:ext>
            </a:extLst>
          </p:cNvPr>
          <p:cNvSpPr>
            <a:spLocks noGrp="1"/>
          </p:cNvSpPr>
          <p:nvPr>
            <p:ph type="ftr" sz="quarter" idx="11"/>
          </p:nvPr>
        </p:nvSpPr>
        <p:spPr/>
        <p:txBody>
          <a:bodyPr/>
          <a:lstStyle/>
          <a:p>
            <a:endParaRPr lang="en-KE"/>
          </a:p>
        </p:txBody>
      </p:sp>
      <p:sp>
        <p:nvSpPr>
          <p:cNvPr id="9" name="Slide Number Placeholder 8">
            <a:extLst>
              <a:ext uri="{FF2B5EF4-FFF2-40B4-BE49-F238E27FC236}">
                <a16:creationId xmlns:a16="http://schemas.microsoft.com/office/drawing/2014/main" id="{40F28C75-5A7A-7B4A-9E7C-5F742063F575}"/>
              </a:ext>
            </a:extLst>
          </p:cNvPr>
          <p:cNvSpPr>
            <a:spLocks noGrp="1"/>
          </p:cNvSpPr>
          <p:nvPr>
            <p:ph type="sldNum" sz="quarter" idx="12"/>
          </p:nvPr>
        </p:nvSpPr>
        <p:spPr/>
        <p:txBody>
          <a:bodyPr/>
          <a:lstStyle/>
          <a:p>
            <a:fld id="{D9AB5E54-3E77-4048-BBCC-D07DA3B3AFE8}" type="slidenum">
              <a:rPr lang="en-KE" smtClean="0"/>
              <a:t>‹#›</a:t>
            </a:fld>
            <a:endParaRPr lang="en-KE"/>
          </a:p>
        </p:txBody>
      </p:sp>
    </p:spTree>
    <p:extLst>
      <p:ext uri="{BB962C8B-B14F-4D97-AF65-F5344CB8AC3E}">
        <p14:creationId xmlns:p14="http://schemas.microsoft.com/office/powerpoint/2010/main" val="2342268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6BA69-D17D-3941-AB2A-885EB9C41B29}"/>
              </a:ext>
            </a:extLst>
          </p:cNvPr>
          <p:cNvSpPr>
            <a:spLocks noGrp="1"/>
          </p:cNvSpPr>
          <p:nvPr>
            <p:ph type="title"/>
          </p:nvPr>
        </p:nvSpPr>
        <p:spPr/>
        <p:txBody>
          <a:bodyPr/>
          <a:lstStyle/>
          <a:p>
            <a:r>
              <a:rPr lang="en-GB"/>
              <a:t>Click to edit Master title style</a:t>
            </a:r>
            <a:endParaRPr lang="en-KE"/>
          </a:p>
        </p:txBody>
      </p:sp>
      <p:sp>
        <p:nvSpPr>
          <p:cNvPr id="3" name="Date Placeholder 2">
            <a:extLst>
              <a:ext uri="{FF2B5EF4-FFF2-40B4-BE49-F238E27FC236}">
                <a16:creationId xmlns:a16="http://schemas.microsoft.com/office/drawing/2014/main" id="{CD510B3A-A1F2-474D-A8AE-CCC77879E2CD}"/>
              </a:ext>
            </a:extLst>
          </p:cNvPr>
          <p:cNvSpPr>
            <a:spLocks noGrp="1"/>
          </p:cNvSpPr>
          <p:nvPr>
            <p:ph type="dt" sz="half" idx="10"/>
          </p:nvPr>
        </p:nvSpPr>
        <p:spPr/>
        <p:txBody>
          <a:bodyPr/>
          <a:lstStyle/>
          <a:p>
            <a:fld id="{C4C62005-B023-C04E-9E70-49FF7FDB8843}" type="datetimeFigureOut">
              <a:rPr lang="en-KE" smtClean="0"/>
              <a:t>03/10/2023</a:t>
            </a:fld>
            <a:endParaRPr lang="en-KE"/>
          </a:p>
        </p:txBody>
      </p:sp>
      <p:sp>
        <p:nvSpPr>
          <p:cNvPr id="4" name="Footer Placeholder 3">
            <a:extLst>
              <a:ext uri="{FF2B5EF4-FFF2-40B4-BE49-F238E27FC236}">
                <a16:creationId xmlns:a16="http://schemas.microsoft.com/office/drawing/2014/main" id="{5D5EF98D-6D24-FB42-B441-9494099F9B60}"/>
              </a:ext>
            </a:extLst>
          </p:cNvPr>
          <p:cNvSpPr>
            <a:spLocks noGrp="1"/>
          </p:cNvSpPr>
          <p:nvPr>
            <p:ph type="ftr" sz="quarter" idx="11"/>
          </p:nvPr>
        </p:nvSpPr>
        <p:spPr/>
        <p:txBody>
          <a:bodyPr/>
          <a:lstStyle/>
          <a:p>
            <a:endParaRPr lang="en-KE"/>
          </a:p>
        </p:txBody>
      </p:sp>
      <p:sp>
        <p:nvSpPr>
          <p:cNvPr id="5" name="Slide Number Placeholder 4">
            <a:extLst>
              <a:ext uri="{FF2B5EF4-FFF2-40B4-BE49-F238E27FC236}">
                <a16:creationId xmlns:a16="http://schemas.microsoft.com/office/drawing/2014/main" id="{F9F59DA5-1983-3241-A667-630DBA3C7D1A}"/>
              </a:ext>
            </a:extLst>
          </p:cNvPr>
          <p:cNvSpPr>
            <a:spLocks noGrp="1"/>
          </p:cNvSpPr>
          <p:nvPr>
            <p:ph type="sldNum" sz="quarter" idx="12"/>
          </p:nvPr>
        </p:nvSpPr>
        <p:spPr/>
        <p:txBody>
          <a:bodyPr/>
          <a:lstStyle/>
          <a:p>
            <a:fld id="{D9AB5E54-3E77-4048-BBCC-D07DA3B3AFE8}" type="slidenum">
              <a:rPr lang="en-KE" smtClean="0"/>
              <a:t>‹#›</a:t>
            </a:fld>
            <a:endParaRPr lang="en-KE"/>
          </a:p>
        </p:txBody>
      </p:sp>
    </p:spTree>
    <p:extLst>
      <p:ext uri="{BB962C8B-B14F-4D97-AF65-F5344CB8AC3E}">
        <p14:creationId xmlns:p14="http://schemas.microsoft.com/office/powerpoint/2010/main" val="3105095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679EAA-E11E-1E48-AF94-59100F1A492C}"/>
              </a:ext>
            </a:extLst>
          </p:cNvPr>
          <p:cNvSpPr>
            <a:spLocks noGrp="1"/>
          </p:cNvSpPr>
          <p:nvPr>
            <p:ph type="dt" sz="half" idx="10"/>
          </p:nvPr>
        </p:nvSpPr>
        <p:spPr/>
        <p:txBody>
          <a:bodyPr/>
          <a:lstStyle/>
          <a:p>
            <a:fld id="{C4C62005-B023-C04E-9E70-49FF7FDB8843}" type="datetimeFigureOut">
              <a:rPr lang="en-KE" smtClean="0"/>
              <a:t>03/10/2023</a:t>
            </a:fld>
            <a:endParaRPr lang="en-KE"/>
          </a:p>
        </p:txBody>
      </p:sp>
      <p:sp>
        <p:nvSpPr>
          <p:cNvPr id="3" name="Footer Placeholder 2">
            <a:extLst>
              <a:ext uri="{FF2B5EF4-FFF2-40B4-BE49-F238E27FC236}">
                <a16:creationId xmlns:a16="http://schemas.microsoft.com/office/drawing/2014/main" id="{035BD007-891D-C444-AC8F-EB7A742195A9}"/>
              </a:ext>
            </a:extLst>
          </p:cNvPr>
          <p:cNvSpPr>
            <a:spLocks noGrp="1"/>
          </p:cNvSpPr>
          <p:nvPr>
            <p:ph type="ftr" sz="quarter" idx="11"/>
          </p:nvPr>
        </p:nvSpPr>
        <p:spPr/>
        <p:txBody>
          <a:bodyPr/>
          <a:lstStyle/>
          <a:p>
            <a:endParaRPr lang="en-KE"/>
          </a:p>
        </p:txBody>
      </p:sp>
      <p:sp>
        <p:nvSpPr>
          <p:cNvPr id="4" name="Slide Number Placeholder 3">
            <a:extLst>
              <a:ext uri="{FF2B5EF4-FFF2-40B4-BE49-F238E27FC236}">
                <a16:creationId xmlns:a16="http://schemas.microsoft.com/office/drawing/2014/main" id="{77FD537B-95AA-A04F-BEA0-D02383640949}"/>
              </a:ext>
            </a:extLst>
          </p:cNvPr>
          <p:cNvSpPr>
            <a:spLocks noGrp="1"/>
          </p:cNvSpPr>
          <p:nvPr>
            <p:ph type="sldNum" sz="quarter" idx="12"/>
          </p:nvPr>
        </p:nvSpPr>
        <p:spPr/>
        <p:txBody>
          <a:bodyPr/>
          <a:lstStyle/>
          <a:p>
            <a:fld id="{D9AB5E54-3E77-4048-BBCC-D07DA3B3AFE8}" type="slidenum">
              <a:rPr lang="en-KE" smtClean="0"/>
              <a:t>‹#›</a:t>
            </a:fld>
            <a:endParaRPr lang="en-KE"/>
          </a:p>
        </p:txBody>
      </p:sp>
    </p:spTree>
    <p:extLst>
      <p:ext uri="{BB962C8B-B14F-4D97-AF65-F5344CB8AC3E}">
        <p14:creationId xmlns:p14="http://schemas.microsoft.com/office/powerpoint/2010/main" val="2010799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3A44F-EC04-D842-A14A-583D759F355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KE"/>
          </a:p>
        </p:txBody>
      </p:sp>
      <p:sp>
        <p:nvSpPr>
          <p:cNvPr id="3" name="Content Placeholder 2">
            <a:extLst>
              <a:ext uri="{FF2B5EF4-FFF2-40B4-BE49-F238E27FC236}">
                <a16:creationId xmlns:a16="http://schemas.microsoft.com/office/drawing/2014/main" id="{F7CE7AB3-257B-F443-BC63-D52BF0133D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4" name="Text Placeholder 3">
            <a:extLst>
              <a:ext uri="{FF2B5EF4-FFF2-40B4-BE49-F238E27FC236}">
                <a16:creationId xmlns:a16="http://schemas.microsoft.com/office/drawing/2014/main" id="{75C65B01-3203-CA4C-9E97-DB5257A608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A4FE461-2C22-004E-8352-12E0B191B70D}"/>
              </a:ext>
            </a:extLst>
          </p:cNvPr>
          <p:cNvSpPr>
            <a:spLocks noGrp="1"/>
          </p:cNvSpPr>
          <p:nvPr>
            <p:ph type="dt" sz="half" idx="10"/>
          </p:nvPr>
        </p:nvSpPr>
        <p:spPr/>
        <p:txBody>
          <a:bodyPr/>
          <a:lstStyle/>
          <a:p>
            <a:fld id="{C4C62005-B023-C04E-9E70-49FF7FDB8843}" type="datetimeFigureOut">
              <a:rPr lang="en-KE" smtClean="0"/>
              <a:t>03/10/2023</a:t>
            </a:fld>
            <a:endParaRPr lang="en-KE"/>
          </a:p>
        </p:txBody>
      </p:sp>
      <p:sp>
        <p:nvSpPr>
          <p:cNvPr id="6" name="Footer Placeholder 5">
            <a:extLst>
              <a:ext uri="{FF2B5EF4-FFF2-40B4-BE49-F238E27FC236}">
                <a16:creationId xmlns:a16="http://schemas.microsoft.com/office/drawing/2014/main" id="{1FE363B6-779A-C547-9A65-173E11486017}"/>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F7D21B34-6202-A448-A691-E85C57FAB380}"/>
              </a:ext>
            </a:extLst>
          </p:cNvPr>
          <p:cNvSpPr>
            <a:spLocks noGrp="1"/>
          </p:cNvSpPr>
          <p:nvPr>
            <p:ph type="sldNum" sz="quarter" idx="12"/>
          </p:nvPr>
        </p:nvSpPr>
        <p:spPr/>
        <p:txBody>
          <a:bodyPr/>
          <a:lstStyle/>
          <a:p>
            <a:fld id="{D9AB5E54-3E77-4048-BBCC-D07DA3B3AFE8}" type="slidenum">
              <a:rPr lang="en-KE" smtClean="0"/>
              <a:t>‹#›</a:t>
            </a:fld>
            <a:endParaRPr lang="en-KE"/>
          </a:p>
        </p:txBody>
      </p:sp>
    </p:spTree>
    <p:extLst>
      <p:ext uri="{BB962C8B-B14F-4D97-AF65-F5344CB8AC3E}">
        <p14:creationId xmlns:p14="http://schemas.microsoft.com/office/powerpoint/2010/main" val="2239221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C2561-B9A9-0347-B779-69AAC9B1006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KE"/>
          </a:p>
        </p:txBody>
      </p:sp>
      <p:sp>
        <p:nvSpPr>
          <p:cNvPr id="3" name="Picture Placeholder 2">
            <a:extLst>
              <a:ext uri="{FF2B5EF4-FFF2-40B4-BE49-F238E27FC236}">
                <a16:creationId xmlns:a16="http://schemas.microsoft.com/office/drawing/2014/main" id="{74D88C91-10A1-4A43-9C37-12C7B8293B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KE"/>
          </a:p>
        </p:txBody>
      </p:sp>
      <p:sp>
        <p:nvSpPr>
          <p:cNvPr id="4" name="Text Placeholder 3">
            <a:extLst>
              <a:ext uri="{FF2B5EF4-FFF2-40B4-BE49-F238E27FC236}">
                <a16:creationId xmlns:a16="http://schemas.microsoft.com/office/drawing/2014/main" id="{E9FBFE77-334D-784F-A902-6D07A91320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2E3B553-75EE-1C40-A050-619FFCD3B8D4}"/>
              </a:ext>
            </a:extLst>
          </p:cNvPr>
          <p:cNvSpPr>
            <a:spLocks noGrp="1"/>
          </p:cNvSpPr>
          <p:nvPr>
            <p:ph type="dt" sz="half" idx="10"/>
          </p:nvPr>
        </p:nvSpPr>
        <p:spPr/>
        <p:txBody>
          <a:bodyPr/>
          <a:lstStyle/>
          <a:p>
            <a:fld id="{C4C62005-B023-C04E-9E70-49FF7FDB8843}" type="datetimeFigureOut">
              <a:rPr lang="en-KE" smtClean="0"/>
              <a:t>03/10/2023</a:t>
            </a:fld>
            <a:endParaRPr lang="en-KE"/>
          </a:p>
        </p:txBody>
      </p:sp>
      <p:sp>
        <p:nvSpPr>
          <p:cNvPr id="6" name="Footer Placeholder 5">
            <a:extLst>
              <a:ext uri="{FF2B5EF4-FFF2-40B4-BE49-F238E27FC236}">
                <a16:creationId xmlns:a16="http://schemas.microsoft.com/office/drawing/2014/main" id="{86CF7F16-78A6-3248-BA88-B2A1F2E0F66C}"/>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31C95CFE-FB34-1541-B880-AEDD1FD01174}"/>
              </a:ext>
            </a:extLst>
          </p:cNvPr>
          <p:cNvSpPr>
            <a:spLocks noGrp="1"/>
          </p:cNvSpPr>
          <p:nvPr>
            <p:ph type="sldNum" sz="quarter" idx="12"/>
          </p:nvPr>
        </p:nvSpPr>
        <p:spPr/>
        <p:txBody>
          <a:bodyPr/>
          <a:lstStyle/>
          <a:p>
            <a:fld id="{D9AB5E54-3E77-4048-BBCC-D07DA3B3AFE8}" type="slidenum">
              <a:rPr lang="en-KE" smtClean="0"/>
              <a:t>‹#›</a:t>
            </a:fld>
            <a:endParaRPr lang="en-KE"/>
          </a:p>
        </p:txBody>
      </p:sp>
    </p:spTree>
    <p:extLst>
      <p:ext uri="{BB962C8B-B14F-4D97-AF65-F5344CB8AC3E}">
        <p14:creationId xmlns:p14="http://schemas.microsoft.com/office/powerpoint/2010/main" val="502151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C3AFE-EDC1-E346-B351-2B3C9EE1A23A}"/>
              </a:ext>
            </a:extLst>
          </p:cNvPr>
          <p:cNvSpPr>
            <a:spLocks noGrp="1"/>
          </p:cNvSpPr>
          <p:nvPr>
            <p:ph type="title"/>
          </p:nvPr>
        </p:nvSpPr>
        <p:spPr/>
        <p:txBody>
          <a:bodyPr/>
          <a:lstStyle/>
          <a:p>
            <a:r>
              <a:rPr lang="en-GB"/>
              <a:t>Click to edit Master title style</a:t>
            </a:r>
            <a:endParaRPr lang="en-KE"/>
          </a:p>
        </p:txBody>
      </p:sp>
      <p:sp>
        <p:nvSpPr>
          <p:cNvPr id="3" name="Vertical Text Placeholder 2">
            <a:extLst>
              <a:ext uri="{FF2B5EF4-FFF2-40B4-BE49-F238E27FC236}">
                <a16:creationId xmlns:a16="http://schemas.microsoft.com/office/drawing/2014/main" id="{B87EC5D2-76DD-664D-977E-593BAC4564B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4" name="Date Placeholder 3">
            <a:extLst>
              <a:ext uri="{FF2B5EF4-FFF2-40B4-BE49-F238E27FC236}">
                <a16:creationId xmlns:a16="http://schemas.microsoft.com/office/drawing/2014/main" id="{4196A981-624C-8248-9716-C5A0BCD4A721}"/>
              </a:ext>
            </a:extLst>
          </p:cNvPr>
          <p:cNvSpPr>
            <a:spLocks noGrp="1"/>
          </p:cNvSpPr>
          <p:nvPr>
            <p:ph type="dt" sz="half" idx="10"/>
          </p:nvPr>
        </p:nvSpPr>
        <p:spPr/>
        <p:txBody>
          <a:bodyPr/>
          <a:lstStyle/>
          <a:p>
            <a:fld id="{C4C62005-B023-C04E-9E70-49FF7FDB8843}" type="datetimeFigureOut">
              <a:rPr lang="en-KE" smtClean="0"/>
              <a:t>03/10/2023</a:t>
            </a:fld>
            <a:endParaRPr lang="en-KE"/>
          </a:p>
        </p:txBody>
      </p:sp>
      <p:sp>
        <p:nvSpPr>
          <p:cNvPr id="5" name="Footer Placeholder 4">
            <a:extLst>
              <a:ext uri="{FF2B5EF4-FFF2-40B4-BE49-F238E27FC236}">
                <a16:creationId xmlns:a16="http://schemas.microsoft.com/office/drawing/2014/main" id="{951C0C2B-B809-4C47-B0EB-DB03BA605663}"/>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F9831A9B-A294-2248-B710-91C39E32AFA5}"/>
              </a:ext>
            </a:extLst>
          </p:cNvPr>
          <p:cNvSpPr>
            <a:spLocks noGrp="1"/>
          </p:cNvSpPr>
          <p:nvPr>
            <p:ph type="sldNum" sz="quarter" idx="12"/>
          </p:nvPr>
        </p:nvSpPr>
        <p:spPr/>
        <p:txBody>
          <a:bodyPr/>
          <a:lstStyle/>
          <a:p>
            <a:fld id="{D9AB5E54-3E77-4048-BBCC-D07DA3B3AFE8}" type="slidenum">
              <a:rPr lang="en-KE" smtClean="0"/>
              <a:t>‹#›</a:t>
            </a:fld>
            <a:endParaRPr lang="en-KE"/>
          </a:p>
        </p:txBody>
      </p:sp>
    </p:spTree>
    <p:extLst>
      <p:ext uri="{BB962C8B-B14F-4D97-AF65-F5344CB8AC3E}">
        <p14:creationId xmlns:p14="http://schemas.microsoft.com/office/powerpoint/2010/main" val="30195089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4D7723-6E50-0940-8DEF-A280CE18E79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KE"/>
          </a:p>
        </p:txBody>
      </p:sp>
      <p:sp>
        <p:nvSpPr>
          <p:cNvPr id="3" name="Vertical Text Placeholder 2">
            <a:extLst>
              <a:ext uri="{FF2B5EF4-FFF2-40B4-BE49-F238E27FC236}">
                <a16:creationId xmlns:a16="http://schemas.microsoft.com/office/drawing/2014/main" id="{7E0FC6C2-4F85-8248-9FE8-8ECCE598CB0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4" name="Date Placeholder 3">
            <a:extLst>
              <a:ext uri="{FF2B5EF4-FFF2-40B4-BE49-F238E27FC236}">
                <a16:creationId xmlns:a16="http://schemas.microsoft.com/office/drawing/2014/main" id="{0DA86ED0-EA64-5447-886C-06B32968C75F}"/>
              </a:ext>
            </a:extLst>
          </p:cNvPr>
          <p:cNvSpPr>
            <a:spLocks noGrp="1"/>
          </p:cNvSpPr>
          <p:nvPr>
            <p:ph type="dt" sz="half" idx="10"/>
          </p:nvPr>
        </p:nvSpPr>
        <p:spPr/>
        <p:txBody>
          <a:bodyPr/>
          <a:lstStyle/>
          <a:p>
            <a:fld id="{C4C62005-B023-C04E-9E70-49FF7FDB8843}" type="datetimeFigureOut">
              <a:rPr lang="en-KE" smtClean="0"/>
              <a:t>03/10/2023</a:t>
            </a:fld>
            <a:endParaRPr lang="en-KE"/>
          </a:p>
        </p:txBody>
      </p:sp>
      <p:sp>
        <p:nvSpPr>
          <p:cNvPr id="5" name="Footer Placeholder 4">
            <a:extLst>
              <a:ext uri="{FF2B5EF4-FFF2-40B4-BE49-F238E27FC236}">
                <a16:creationId xmlns:a16="http://schemas.microsoft.com/office/drawing/2014/main" id="{93699ADE-44C4-874B-A7FF-F0663B85FC67}"/>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24769407-FDE0-8D44-921D-D816460E7E80}"/>
              </a:ext>
            </a:extLst>
          </p:cNvPr>
          <p:cNvSpPr>
            <a:spLocks noGrp="1"/>
          </p:cNvSpPr>
          <p:nvPr>
            <p:ph type="sldNum" sz="quarter" idx="12"/>
          </p:nvPr>
        </p:nvSpPr>
        <p:spPr/>
        <p:txBody>
          <a:bodyPr/>
          <a:lstStyle/>
          <a:p>
            <a:fld id="{D9AB5E54-3E77-4048-BBCC-D07DA3B3AFE8}" type="slidenum">
              <a:rPr lang="en-KE" smtClean="0"/>
              <a:t>‹#›</a:t>
            </a:fld>
            <a:endParaRPr lang="en-KE"/>
          </a:p>
        </p:txBody>
      </p:sp>
    </p:spTree>
    <p:extLst>
      <p:ext uri="{BB962C8B-B14F-4D97-AF65-F5344CB8AC3E}">
        <p14:creationId xmlns:p14="http://schemas.microsoft.com/office/powerpoint/2010/main" val="4065858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0BA077-1B76-4942-836B-4FDED40F80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KE"/>
          </a:p>
        </p:txBody>
      </p:sp>
      <p:sp>
        <p:nvSpPr>
          <p:cNvPr id="3" name="Text Placeholder 2">
            <a:extLst>
              <a:ext uri="{FF2B5EF4-FFF2-40B4-BE49-F238E27FC236}">
                <a16:creationId xmlns:a16="http://schemas.microsoft.com/office/drawing/2014/main" id="{AAEE39B3-5CF5-2743-85C9-AAC2B60847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4" name="Date Placeholder 3">
            <a:extLst>
              <a:ext uri="{FF2B5EF4-FFF2-40B4-BE49-F238E27FC236}">
                <a16:creationId xmlns:a16="http://schemas.microsoft.com/office/drawing/2014/main" id="{3A4A1BA9-FE3B-C24E-B51C-23F6188B6B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C62005-B023-C04E-9E70-49FF7FDB8843}" type="datetimeFigureOut">
              <a:rPr lang="en-KE" smtClean="0"/>
              <a:t>03/10/2023</a:t>
            </a:fld>
            <a:endParaRPr lang="en-KE"/>
          </a:p>
        </p:txBody>
      </p:sp>
      <p:sp>
        <p:nvSpPr>
          <p:cNvPr id="5" name="Footer Placeholder 4">
            <a:extLst>
              <a:ext uri="{FF2B5EF4-FFF2-40B4-BE49-F238E27FC236}">
                <a16:creationId xmlns:a16="http://schemas.microsoft.com/office/drawing/2014/main" id="{1A8D7617-8CCE-6145-A73D-E7A48AF658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KE"/>
          </a:p>
        </p:txBody>
      </p:sp>
      <p:sp>
        <p:nvSpPr>
          <p:cNvPr id="6" name="Slide Number Placeholder 5">
            <a:extLst>
              <a:ext uri="{FF2B5EF4-FFF2-40B4-BE49-F238E27FC236}">
                <a16:creationId xmlns:a16="http://schemas.microsoft.com/office/drawing/2014/main" id="{9DDA3829-0BFB-4644-9EE2-6560A57209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AB5E54-3E77-4048-BBCC-D07DA3B3AFE8}" type="slidenum">
              <a:rPr lang="en-KE" smtClean="0"/>
              <a:t>‹#›</a:t>
            </a:fld>
            <a:endParaRPr lang="en-KE"/>
          </a:p>
        </p:txBody>
      </p:sp>
    </p:spTree>
    <p:extLst>
      <p:ext uri="{BB962C8B-B14F-4D97-AF65-F5344CB8AC3E}">
        <p14:creationId xmlns:p14="http://schemas.microsoft.com/office/powerpoint/2010/main" val="37680874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C98E5-F932-234B-AB50-3A7B7025769B}"/>
              </a:ext>
            </a:extLst>
          </p:cNvPr>
          <p:cNvSpPr>
            <a:spLocks noGrp="1"/>
          </p:cNvSpPr>
          <p:nvPr>
            <p:ph type="ctrTitle"/>
          </p:nvPr>
        </p:nvSpPr>
        <p:spPr/>
        <p:txBody>
          <a:bodyPr>
            <a:normAutofit fontScale="90000"/>
          </a:bodyPr>
          <a:lstStyle/>
          <a:p>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r>
              <a:rPr lang="en-US" b="1" dirty="0"/>
              <a:t>LESSON 2</a:t>
            </a:r>
            <a:br>
              <a:rPr lang="en-KE" b="1" dirty="0"/>
            </a:br>
            <a:endParaRPr lang="en-KE" dirty="0"/>
          </a:p>
        </p:txBody>
      </p:sp>
      <p:sp>
        <p:nvSpPr>
          <p:cNvPr id="3" name="Subtitle 2">
            <a:extLst>
              <a:ext uri="{FF2B5EF4-FFF2-40B4-BE49-F238E27FC236}">
                <a16:creationId xmlns:a16="http://schemas.microsoft.com/office/drawing/2014/main" id="{6E221438-106D-2542-B6EB-C8CFBD6A84FA}"/>
              </a:ext>
            </a:extLst>
          </p:cNvPr>
          <p:cNvSpPr>
            <a:spLocks noGrp="1"/>
          </p:cNvSpPr>
          <p:nvPr>
            <p:ph type="subTitle" idx="1"/>
          </p:nvPr>
        </p:nvSpPr>
        <p:spPr/>
        <p:txBody>
          <a:bodyPr/>
          <a:lstStyle/>
          <a:p>
            <a:endParaRPr lang="en-US" b="1" dirty="0"/>
          </a:p>
          <a:p>
            <a:r>
              <a:rPr lang="en-US" b="1" dirty="0"/>
              <a:t>HUMAN BODY SYSTEM 1.THE NERVOUS SYSTEM AND CARDIOVASCULAR SYSTEM</a:t>
            </a:r>
            <a:br>
              <a:rPr lang="en-KE" b="1" dirty="0"/>
            </a:br>
            <a:endParaRPr lang="en-KE" dirty="0"/>
          </a:p>
        </p:txBody>
      </p:sp>
    </p:spTree>
    <p:extLst>
      <p:ext uri="{BB962C8B-B14F-4D97-AF65-F5344CB8AC3E}">
        <p14:creationId xmlns:p14="http://schemas.microsoft.com/office/powerpoint/2010/main" val="1682748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68E87-3F26-EF44-B4F2-ECC8422DFB4E}"/>
              </a:ext>
            </a:extLst>
          </p:cNvPr>
          <p:cNvSpPr>
            <a:spLocks noGrp="1"/>
          </p:cNvSpPr>
          <p:nvPr>
            <p:ph type="title"/>
          </p:nvPr>
        </p:nvSpPr>
        <p:spPr/>
        <p:txBody>
          <a:bodyPr/>
          <a:lstStyle/>
          <a:p>
            <a:r>
              <a:rPr lang="en-GB" dirty="0"/>
              <a:t>I</a:t>
            </a:r>
            <a:r>
              <a:rPr lang="en-KE" dirty="0"/>
              <a:t>ntroduction </a:t>
            </a:r>
          </a:p>
        </p:txBody>
      </p:sp>
      <p:sp>
        <p:nvSpPr>
          <p:cNvPr id="3" name="Content Placeholder 2">
            <a:extLst>
              <a:ext uri="{FF2B5EF4-FFF2-40B4-BE49-F238E27FC236}">
                <a16:creationId xmlns:a16="http://schemas.microsoft.com/office/drawing/2014/main" id="{5A33CDD8-4E6B-524F-8FD7-F9FA9B7BDB9C}"/>
              </a:ext>
            </a:extLst>
          </p:cNvPr>
          <p:cNvSpPr>
            <a:spLocks noGrp="1"/>
          </p:cNvSpPr>
          <p:nvPr>
            <p:ph idx="1"/>
          </p:nvPr>
        </p:nvSpPr>
        <p:spPr/>
        <p:txBody>
          <a:bodyPr>
            <a:normAutofit fontScale="92500" lnSpcReduction="10000"/>
          </a:bodyPr>
          <a:lstStyle/>
          <a:p>
            <a:r>
              <a:rPr lang="en-US" dirty="0"/>
              <a:t>In this lesson, we shall learn about the systems of the human body. </a:t>
            </a:r>
          </a:p>
          <a:p>
            <a:r>
              <a:rPr lang="en-US" b="1" dirty="0"/>
              <a:t>A system is defined as a group of organs working together to perform related functions. </a:t>
            </a:r>
          </a:p>
          <a:p>
            <a:r>
              <a:rPr lang="en-US" dirty="0"/>
              <a:t>All body organs work together at all times and constantly interacts to maintain a state of internal balance known as homeostasis. </a:t>
            </a:r>
          </a:p>
          <a:p>
            <a:r>
              <a:rPr lang="en-US" dirty="0"/>
              <a:t>A disturbance in any organ may affect other systems of the body. </a:t>
            </a:r>
          </a:p>
          <a:p>
            <a:r>
              <a:rPr lang="en-US" dirty="0"/>
              <a:t>First we shall discuss the </a:t>
            </a:r>
            <a:r>
              <a:rPr lang="en-US" b="1" dirty="0"/>
              <a:t>structure of the nervous system</a:t>
            </a:r>
            <a:r>
              <a:rPr lang="en-US" dirty="0"/>
              <a:t>. </a:t>
            </a:r>
          </a:p>
          <a:p>
            <a:r>
              <a:rPr lang="en-US" dirty="0"/>
              <a:t>Thereafter, we shall compare the </a:t>
            </a:r>
            <a:r>
              <a:rPr lang="en-US" b="1" dirty="0"/>
              <a:t>sympathetic and the parasympathetic </a:t>
            </a:r>
            <a:r>
              <a:rPr lang="en-US" dirty="0"/>
              <a:t>nervous systems. </a:t>
            </a:r>
          </a:p>
          <a:p>
            <a:r>
              <a:rPr lang="en-US" dirty="0"/>
              <a:t>Finally, we shall describe the cardiovascular system. </a:t>
            </a:r>
            <a:endParaRPr lang="en-KE" dirty="0"/>
          </a:p>
        </p:txBody>
      </p:sp>
    </p:spTree>
    <p:extLst>
      <p:ext uri="{BB962C8B-B14F-4D97-AF65-F5344CB8AC3E}">
        <p14:creationId xmlns:p14="http://schemas.microsoft.com/office/powerpoint/2010/main" val="4092293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D480E-326F-D240-9DA8-27B373B83D09}"/>
              </a:ext>
            </a:extLst>
          </p:cNvPr>
          <p:cNvSpPr>
            <a:spLocks noGrp="1"/>
          </p:cNvSpPr>
          <p:nvPr>
            <p:ph type="title"/>
          </p:nvPr>
        </p:nvSpPr>
        <p:spPr/>
        <p:txBody>
          <a:bodyPr>
            <a:normAutofit fontScale="90000"/>
          </a:bodyPr>
          <a:lstStyle/>
          <a:p>
            <a:br>
              <a:rPr lang="en-US" b="1" dirty="0"/>
            </a:br>
            <a:r>
              <a:rPr lang="en-US" b="1" dirty="0"/>
              <a:t>Structure of Nervous System</a:t>
            </a:r>
            <a:br>
              <a:rPr lang="en-KE" dirty="0"/>
            </a:br>
            <a:endParaRPr lang="en-KE" dirty="0"/>
          </a:p>
        </p:txBody>
      </p:sp>
      <p:sp>
        <p:nvSpPr>
          <p:cNvPr id="3" name="Content Placeholder 2">
            <a:extLst>
              <a:ext uri="{FF2B5EF4-FFF2-40B4-BE49-F238E27FC236}">
                <a16:creationId xmlns:a16="http://schemas.microsoft.com/office/drawing/2014/main" id="{36C08C2F-261D-A746-ADB5-473FD91052DB}"/>
              </a:ext>
            </a:extLst>
          </p:cNvPr>
          <p:cNvSpPr>
            <a:spLocks noGrp="1"/>
          </p:cNvSpPr>
          <p:nvPr>
            <p:ph idx="1"/>
          </p:nvPr>
        </p:nvSpPr>
        <p:spPr/>
        <p:txBody>
          <a:bodyPr>
            <a:normAutofit/>
          </a:bodyPr>
          <a:lstStyle/>
          <a:p>
            <a:r>
              <a:rPr lang="en-GB" sz="3200" dirty="0"/>
              <a:t>The nervous system is a network of neurons whose main feature is to generate, moderate and transmit information to all the different parts of the human body.</a:t>
            </a:r>
          </a:p>
          <a:p>
            <a:r>
              <a:rPr lang="en-GB" sz="3200" dirty="0"/>
              <a:t>This property enables many important functions of the nervous system, such as regulation of vital body functions (heartbeat, breathing, digestion), sensation and body movements. Ultimately, the nervous system structures preside over everything that makes us human; our consciousness, cognition, behaviour and memories.</a:t>
            </a:r>
            <a:endParaRPr lang="en-KE" sz="3200" dirty="0"/>
          </a:p>
        </p:txBody>
      </p:sp>
    </p:spTree>
    <p:extLst>
      <p:ext uri="{BB962C8B-B14F-4D97-AF65-F5344CB8AC3E}">
        <p14:creationId xmlns:p14="http://schemas.microsoft.com/office/powerpoint/2010/main" val="3132954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659D3-FDEA-9A4D-9F78-E6631627B592}"/>
              </a:ext>
            </a:extLst>
          </p:cNvPr>
          <p:cNvSpPr>
            <a:spLocks noGrp="1"/>
          </p:cNvSpPr>
          <p:nvPr>
            <p:ph type="title"/>
          </p:nvPr>
        </p:nvSpPr>
        <p:spPr/>
        <p:txBody>
          <a:bodyPr/>
          <a:lstStyle/>
          <a:p>
            <a:r>
              <a:rPr lang="en-GB" dirty="0"/>
              <a:t>C</a:t>
            </a:r>
            <a:r>
              <a:rPr lang="en-KE" dirty="0"/>
              <a:t>ont.</a:t>
            </a:r>
          </a:p>
        </p:txBody>
      </p:sp>
      <p:sp>
        <p:nvSpPr>
          <p:cNvPr id="3" name="Content Placeholder 2">
            <a:extLst>
              <a:ext uri="{FF2B5EF4-FFF2-40B4-BE49-F238E27FC236}">
                <a16:creationId xmlns:a16="http://schemas.microsoft.com/office/drawing/2014/main" id="{3519ED02-5CC6-AD48-A371-AE418DC8FD63}"/>
              </a:ext>
            </a:extLst>
          </p:cNvPr>
          <p:cNvSpPr>
            <a:spLocks noGrp="1"/>
          </p:cNvSpPr>
          <p:nvPr>
            <p:ph idx="1"/>
          </p:nvPr>
        </p:nvSpPr>
        <p:spPr/>
        <p:txBody>
          <a:bodyPr>
            <a:normAutofit/>
          </a:bodyPr>
          <a:lstStyle/>
          <a:p>
            <a:r>
              <a:rPr lang="en-GB" sz="3200" dirty="0"/>
              <a:t>The nervous system consists of two divisions; </a:t>
            </a:r>
          </a:p>
          <a:p>
            <a:r>
              <a:rPr lang="en-GB" sz="3200" dirty="0"/>
              <a:t>Central Nervous System (CNS) –which is the integration and command centre of the body. </a:t>
            </a:r>
          </a:p>
          <a:p>
            <a:r>
              <a:rPr lang="en-GB" sz="3200" dirty="0"/>
              <a:t>Peripheral Nervous System (PNS)- represents the link between the CNS and the body.</a:t>
            </a:r>
          </a:p>
          <a:p>
            <a:pPr marL="0" indent="0">
              <a:buNone/>
            </a:pPr>
            <a:r>
              <a:rPr lang="en-GB" sz="3200" b="1" dirty="0"/>
              <a:t>The Central Nervous System (CNS) </a:t>
            </a:r>
            <a:r>
              <a:rPr lang="en-GB" sz="3200" dirty="0"/>
              <a:t>- consists of the brain and spinal cord while </a:t>
            </a:r>
            <a:r>
              <a:rPr lang="en-GB" sz="3200" b="1" dirty="0"/>
              <a:t>Peripheral Nervous System (PNS) </a:t>
            </a:r>
            <a:r>
              <a:rPr lang="en-GB" sz="3200" dirty="0"/>
              <a:t>- gathers all neural tissue outside the CNS</a:t>
            </a:r>
          </a:p>
          <a:p>
            <a:endParaRPr lang="en-GB" sz="3200" dirty="0"/>
          </a:p>
          <a:p>
            <a:endParaRPr lang="en-GB" sz="3200" dirty="0"/>
          </a:p>
          <a:p>
            <a:endParaRPr lang="en-KE" dirty="0"/>
          </a:p>
        </p:txBody>
      </p:sp>
    </p:spTree>
    <p:extLst>
      <p:ext uri="{BB962C8B-B14F-4D97-AF65-F5344CB8AC3E}">
        <p14:creationId xmlns:p14="http://schemas.microsoft.com/office/powerpoint/2010/main" val="3259754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4A3A7-CD1F-7648-8B80-9E85C8FD3F15}"/>
              </a:ext>
            </a:extLst>
          </p:cNvPr>
          <p:cNvSpPr>
            <a:spLocks noGrp="1"/>
          </p:cNvSpPr>
          <p:nvPr>
            <p:ph type="title"/>
          </p:nvPr>
        </p:nvSpPr>
        <p:spPr/>
        <p:txBody>
          <a:bodyPr/>
          <a:lstStyle/>
          <a:p>
            <a:r>
              <a:rPr lang="en-US" dirty="0"/>
              <a:t>Cont.</a:t>
            </a:r>
            <a:endParaRPr lang="en-KE" dirty="0"/>
          </a:p>
        </p:txBody>
      </p:sp>
      <p:sp>
        <p:nvSpPr>
          <p:cNvPr id="3" name="Content Placeholder 2">
            <a:extLst>
              <a:ext uri="{FF2B5EF4-FFF2-40B4-BE49-F238E27FC236}">
                <a16:creationId xmlns:a16="http://schemas.microsoft.com/office/drawing/2014/main" id="{D0F56E5B-CEBB-9B42-895A-1568AD6664C1}"/>
              </a:ext>
            </a:extLst>
          </p:cNvPr>
          <p:cNvSpPr>
            <a:spLocks noGrp="1"/>
          </p:cNvSpPr>
          <p:nvPr>
            <p:ph idx="1"/>
          </p:nvPr>
        </p:nvSpPr>
        <p:spPr/>
        <p:txBody>
          <a:bodyPr>
            <a:normAutofit fontScale="92500" lnSpcReduction="10000"/>
          </a:bodyPr>
          <a:lstStyle/>
          <a:p>
            <a:r>
              <a:rPr lang="en-GB" sz="3200" dirty="0"/>
              <a:t>Functionally, the PNS (Peripheral nervous System) is further subdivided into two functional divisions; </a:t>
            </a:r>
          </a:p>
          <a:p>
            <a:pPr marL="0" indent="0">
              <a:buNone/>
            </a:pPr>
            <a:r>
              <a:rPr lang="en-GB" sz="3200" dirty="0" err="1"/>
              <a:t>i</a:t>
            </a:r>
            <a:r>
              <a:rPr lang="en-GB" sz="3200" dirty="0"/>
              <a:t>) Somatic nervous system (SNS) -  informally described as the voluntary system</a:t>
            </a:r>
          </a:p>
          <a:p>
            <a:pPr marL="0" indent="0">
              <a:buNone/>
            </a:pPr>
            <a:r>
              <a:rPr lang="en-GB" sz="3200" dirty="0"/>
              <a:t>ii) Autonomic Nervous System (ANS) –which is described as the involuntary system. </a:t>
            </a:r>
          </a:p>
          <a:p>
            <a:pPr marL="0" indent="0">
              <a:buNone/>
            </a:pPr>
            <a:r>
              <a:rPr lang="en-GB" sz="3200" b="1" dirty="0"/>
              <a:t>Note</a:t>
            </a:r>
          </a:p>
          <a:p>
            <a:r>
              <a:rPr lang="en-GB" sz="3200" dirty="0"/>
              <a:t>Although divided structurally into central and peripheral parts, the nervous system divisions are actually interconnected with each other.</a:t>
            </a:r>
          </a:p>
          <a:p>
            <a:endParaRPr lang="en-KE" dirty="0"/>
          </a:p>
        </p:txBody>
      </p:sp>
    </p:spTree>
    <p:extLst>
      <p:ext uri="{BB962C8B-B14F-4D97-AF65-F5344CB8AC3E}">
        <p14:creationId xmlns:p14="http://schemas.microsoft.com/office/powerpoint/2010/main" val="32524446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134DA-9B12-6F49-918F-B3E1EC60DA41}"/>
              </a:ext>
            </a:extLst>
          </p:cNvPr>
          <p:cNvSpPr>
            <a:spLocks noGrp="1"/>
          </p:cNvSpPr>
          <p:nvPr>
            <p:ph type="title"/>
          </p:nvPr>
        </p:nvSpPr>
        <p:spPr/>
        <p:txBody>
          <a:bodyPr>
            <a:normAutofit fontScale="90000"/>
          </a:bodyPr>
          <a:lstStyle/>
          <a:p>
            <a:br>
              <a:rPr lang="en-GB" dirty="0"/>
            </a:br>
            <a:r>
              <a:rPr lang="en-GB" b="1" dirty="0"/>
              <a:t>Somatic Nervous System &amp; Autonomic Nervous System</a:t>
            </a:r>
            <a:br>
              <a:rPr lang="en-GB" dirty="0"/>
            </a:br>
            <a:endParaRPr lang="en-KE" dirty="0"/>
          </a:p>
        </p:txBody>
      </p:sp>
      <p:sp>
        <p:nvSpPr>
          <p:cNvPr id="3" name="Content Placeholder 2">
            <a:extLst>
              <a:ext uri="{FF2B5EF4-FFF2-40B4-BE49-F238E27FC236}">
                <a16:creationId xmlns:a16="http://schemas.microsoft.com/office/drawing/2014/main" id="{8E6101FA-EF6F-3346-8437-869DDE48C3C8}"/>
              </a:ext>
            </a:extLst>
          </p:cNvPr>
          <p:cNvSpPr>
            <a:spLocks noGrp="1"/>
          </p:cNvSpPr>
          <p:nvPr>
            <p:ph idx="1"/>
          </p:nvPr>
        </p:nvSpPr>
        <p:spPr/>
        <p:txBody>
          <a:bodyPr>
            <a:normAutofit/>
          </a:bodyPr>
          <a:lstStyle/>
          <a:p>
            <a:r>
              <a:rPr lang="en-GB" sz="3200" dirty="0"/>
              <a:t>The somatic nervous system is the </a:t>
            </a:r>
            <a:r>
              <a:rPr lang="en-GB" sz="3200" b="1" dirty="0"/>
              <a:t>voluntary component </a:t>
            </a:r>
            <a:r>
              <a:rPr lang="en-GB" sz="3200" dirty="0"/>
              <a:t>of the peripheral nervous system. </a:t>
            </a:r>
          </a:p>
          <a:p>
            <a:r>
              <a:rPr lang="en-GB" sz="3200" b="1" dirty="0"/>
              <a:t>It consists of all the fibres within cranial </a:t>
            </a:r>
            <a:r>
              <a:rPr lang="en-GB" sz="3200" dirty="0"/>
              <a:t>(</a:t>
            </a:r>
            <a:r>
              <a:rPr lang="en-GB" sz="3200" b="0" i="1" dirty="0">
                <a:solidFill>
                  <a:srgbClr val="040C28"/>
                </a:solidFill>
                <a:effectLst/>
                <a:latin typeface="Google Sans"/>
              </a:rPr>
              <a:t>nerves that emerge directly from the brain</a:t>
            </a:r>
            <a:r>
              <a:rPr lang="en-GB" sz="2000" b="0" i="0" dirty="0">
                <a:solidFill>
                  <a:srgbClr val="040C28"/>
                </a:solidFill>
                <a:effectLst/>
                <a:latin typeface="Google Sans"/>
              </a:rPr>
              <a:t>) </a:t>
            </a:r>
            <a:r>
              <a:rPr lang="en-GB" sz="3200" b="1" dirty="0"/>
              <a:t>and spinal nerves that enable us to perform voluntary body movements </a:t>
            </a:r>
            <a:r>
              <a:rPr lang="en-GB" sz="3200" dirty="0"/>
              <a:t>(</a:t>
            </a:r>
            <a:r>
              <a:rPr lang="en-GB" sz="3200" i="1" dirty="0"/>
              <a:t>efferent nerves</a:t>
            </a:r>
            <a:r>
              <a:rPr lang="en-GB" sz="3200" dirty="0"/>
              <a:t>) </a:t>
            </a:r>
            <a:r>
              <a:rPr lang="en-GB" sz="3200" b="1" dirty="0"/>
              <a:t>and feel sensation from the skin, muscles and joints </a:t>
            </a:r>
            <a:r>
              <a:rPr lang="en-GB" sz="3200" dirty="0"/>
              <a:t>(</a:t>
            </a:r>
            <a:r>
              <a:rPr lang="en-GB" sz="3200" i="1" dirty="0"/>
              <a:t>afferent nerves</a:t>
            </a:r>
            <a:r>
              <a:rPr lang="en-GB" sz="3200" dirty="0"/>
              <a:t>). </a:t>
            </a:r>
          </a:p>
          <a:p>
            <a:pPr marL="0" indent="0">
              <a:buNone/>
            </a:pPr>
            <a:endParaRPr lang="en-KE" dirty="0"/>
          </a:p>
        </p:txBody>
      </p:sp>
    </p:spTree>
    <p:extLst>
      <p:ext uri="{BB962C8B-B14F-4D97-AF65-F5344CB8AC3E}">
        <p14:creationId xmlns:p14="http://schemas.microsoft.com/office/powerpoint/2010/main" val="2377798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5003F-9377-0A4F-9C39-121DD487B642}"/>
              </a:ext>
            </a:extLst>
          </p:cNvPr>
          <p:cNvSpPr>
            <a:spLocks noGrp="1"/>
          </p:cNvSpPr>
          <p:nvPr>
            <p:ph type="title"/>
          </p:nvPr>
        </p:nvSpPr>
        <p:spPr/>
        <p:txBody>
          <a:bodyPr/>
          <a:lstStyle/>
          <a:p>
            <a:r>
              <a:rPr lang="en-GB" dirty="0"/>
              <a:t>C</a:t>
            </a:r>
            <a:r>
              <a:rPr lang="en-KE" dirty="0"/>
              <a:t>ont. </a:t>
            </a:r>
          </a:p>
        </p:txBody>
      </p:sp>
      <p:sp>
        <p:nvSpPr>
          <p:cNvPr id="3" name="Content Placeholder 2">
            <a:extLst>
              <a:ext uri="{FF2B5EF4-FFF2-40B4-BE49-F238E27FC236}">
                <a16:creationId xmlns:a16="http://schemas.microsoft.com/office/drawing/2014/main" id="{6307CE61-5E8C-2C41-BBCA-7E7FD9A10DAC}"/>
              </a:ext>
            </a:extLst>
          </p:cNvPr>
          <p:cNvSpPr>
            <a:spLocks noGrp="1"/>
          </p:cNvSpPr>
          <p:nvPr>
            <p:ph idx="1"/>
          </p:nvPr>
        </p:nvSpPr>
        <p:spPr/>
        <p:txBody>
          <a:bodyPr>
            <a:normAutofit fontScale="85000" lnSpcReduction="10000"/>
          </a:bodyPr>
          <a:lstStyle/>
          <a:p>
            <a:pPr fontAlgn="base"/>
            <a:r>
              <a:rPr lang="en-GB" sz="4800" dirty="0"/>
              <a:t>Somatic sensation relates to touch, pressure, vibration, pain, temperature and stretch</a:t>
            </a:r>
            <a:endParaRPr lang="en-GB" sz="4600" dirty="0">
              <a:latin typeface="Times New Roman" panose="02020603050405020304" pitchFamily="18" charset="0"/>
              <a:cs typeface="Times New Roman" panose="02020603050405020304" pitchFamily="18" charset="0"/>
            </a:endParaRPr>
          </a:p>
          <a:p>
            <a:pPr fontAlgn="base"/>
            <a:r>
              <a:rPr lang="en-GB" sz="4600" dirty="0">
                <a:latin typeface="Times New Roman" panose="02020603050405020304" pitchFamily="18" charset="0"/>
                <a:cs typeface="Times New Roman" panose="02020603050405020304" pitchFamily="18" charset="0"/>
              </a:rPr>
              <a:t>The system is responsible for nearly all voluntary muscle movements as well as for processing sensory information that arrives via external stimuli, including hearing, touch, and sight.</a:t>
            </a:r>
          </a:p>
          <a:p>
            <a:pPr fontAlgn="base"/>
            <a:r>
              <a:rPr lang="en-US" sz="4600" b="1" dirty="0">
                <a:latin typeface="Times New Roman" panose="02020603050405020304" pitchFamily="18" charset="0"/>
                <a:cs typeface="Times New Roman" panose="02020603050405020304" pitchFamily="18" charset="0"/>
              </a:rPr>
              <a:t>Somatic nervous system therefore </a:t>
            </a:r>
            <a:r>
              <a:rPr lang="en-GB" sz="4600" dirty="0">
                <a:latin typeface="Times New Roman" panose="02020603050405020304" pitchFamily="18" charset="0"/>
                <a:cs typeface="Times New Roman" panose="02020603050405020304" pitchFamily="18" charset="0"/>
              </a:rPr>
              <a:t>plays a vital role in initiating and controlling body movements. </a:t>
            </a:r>
          </a:p>
          <a:p>
            <a:endParaRPr lang="en-KE" dirty="0"/>
          </a:p>
        </p:txBody>
      </p:sp>
    </p:spTree>
    <p:extLst>
      <p:ext uri="{BB962C8B-B14F-4D97-AF65-F5344CB8AC3E}">
        <p14:creationId xmlns:p14="http://schemas.microsoft.com/office/powerpoint/2010/main" val="4234594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C9511-E7C4-0A42-B4C6-11BADB6E9E39}"/>
              </a:ext>
            </a:extLst>
          </p:cNvPr>
          <p:cNvSpPr>
            <a:spLocks noGrp="1"/>
          </p:cNvSpPr>
          <p:nvPr>
            <p:ph type="title"/>
          </p:nvPr>
        </p:nvSpPr>
        <p:spPr/>
        <p:txBody>
          <a:bodyPr/>
          <a:lstStyle/>
          <a:p>
            <a:r>
              <a:rPr lang="en-KE" b="1" dirty="0"/>
              <a:t>Autonomic Nervous System</a:t>
            </a:r>
          </a:p>
        </p:txBody>
      </p:sp>
      <p:sp>
        <p:nvSpPr>
          <p:cNvPr id="3" name="Content Placeholder 2">
            <a:extLst>
              <a:ext uri="{FF2B5EF4-FFF2-40B4-BE49-F238E27FC236}">
                <a16:creationId xmlns:a16="http://schemas.microsoft.com/office/drawing/2014/main" id="{C11E1C5A-29B4-0340-A746-0EF9B5CD7061}"/>
              </a:ext>
            </a:extLst>
          </p:cNvPr>
          <p:cNvSpPr>
            <a:spLocks noGrp="1"/>
          </p:cNvSpPr>
          <p:nvPr>
            <p:ph idx="1"/>
          </p:nvPr>
        </p:nvSpPr>
        <p:spPr/>
        <p:txBody>
          <a:bodyPr>
            <a:normAutofit/>
          </a:bodyPr>
          <a:lstStyle/>
          <a:p>
            <a:r>
              <a:rPr lang="en-GB" sz="3200" dirty="0"/>
              <a:t>The </a:t>
            </a:r>
            <a:r>
              <a:rPr lang="en-GB" sz="3200" b="1" dirty="0"/>
              <a:t>autonomic nervous system </a:t>
            </a:r>
            <a:r>
              <a:rPr lang="en-GB" sz="3200" dirty="0"/>
              <a:t>is the i</a:t>
            </a:r>
            <a:r>
              <a:rPr lang="en-GB" sz="3200" b="1" dirty="0"/>
              <a:t>nvoluntary</a:t>
            </a:r>
            <a:r>
              <a:rPr lang="en-GB" sz="3200" dirty="0"/>
              <a:t> part/component of the peripheral nervous system. </a:t>
            </a:r>
          </a:p>
          <a:p>
            <a:r>
              <a:rPr lang="en-GB" sz="3200" dirty="0"/>
              <a:t>It is further divided into  the sympathetic  and the parasympathetic system.</a:t>
            </a:r>
          </a:p>
          <a:p>
            <a:r>
              <a:rPr lang="en-GB" sz="3200" dirty="0"/>
              <a:t>The autonomic nervous system regulates a variety of involuntary body processes that take place, including heartbeat, blood flow, breathing, body temperature, and emotion response.</a:t>
            </a:r>
          </a:p>
          <a:p>
            <a:pPr marL="0" indent="0">
              <a:buNone/>
            </a:pPr>
            <a:endParaRPr lang="en-GB" sz="3200" dirty="0"/>
          </a:p>
        </p:txBody>
      </p:sp>
    </p:spTree>
    <p:extLst>
      <p:ext uri="{BB962C8B-B14F-4D97-AF65-F5344CB8AC3E}">
        <p14:creationId xmlns:p14="http://schemas.microsoft.com/office/powerpoint/2010/main" val="704389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CBA1C-860E-C04B-83C7-924645F0ED84}"/>
              </a:ext>
            </a:extLst>
          </p:cNvPr>
          <p:cNvSpPr>
            <a:spLocks noGrp="1"/>
          </p:cNvSpPr>
          <p:nvPr>
            <p:ph type="title"/>
          </p:nvPr>
        </p:nvSpPr>
        <p:spPr/>
        <p:txBody>
          <a:bodyPr/>
          <a:lstStyle/>
          <a:p>
            <a:r>
              <a:rPr lang="en-GB" dirty="0"/>
              <a:t>C</a:t>
            </a:r>
            <a:r>
              <a:rPr lang="en-KE" dirty="0"/>
              <a:t>ont.</a:t>
            </a:r>
          </a:p>
        </p:txBody>
      </p:sp>
      <p:sp>
        <p:nvSpPr>
          <p:cNvPr id="3" name="Content Placeholder 2">
            <a:extLst>
              <a:ext uri="{FF2B5EF4-FFF2-40B4-BE49-F238E27FC236}">
                <a16:creationId xmlns:a16="http://schemas.microsoft.com/office/drawing/2014/main" id="{CC2703E8-1C85-0040-8C33-87651EF9ABA1}"/>
              </a:ext>
            </a:extLst>
          </p:cNvPr>
          <p:cNvSpPr>
            <a:spLocks noGrp="1"/>
          </p:cNvSpPr>
          <p:nvPr>
            <p:ph idx="1"/>
          </p:nvPr>
        </p:nvSpPr>
        <p:spPr/>
        <p:txBody>
          <a:bodyPr>
            <a:normAutofit fontScale="85000" lnSpcReduction="20000"/>
          </a:bodyPr>
          <a:lstStyle/>
          <a:p>
            <a:r>
              <a:rPr lang="en-GB" sz="3300" dirty="0"/>
              <a:t>The primary function of the somatic nervous system is to connect the central nervous system to the body's muscles to control voluntary movements and reflex actions. A reflex action is </a:t>
            </a:r>
            <a:r>
              <a:rPr lang="en-GB" sz="3300" b="1" i="0" dirty="0">
                <a:solidFill>
                  <a:srgbClr val="040C28"/>
                </a:solidFill>
                <a:effectLst/>
                <a:latin typeface="Google Sans"/>
              </a:rPr>
              <a:t>a sudden and involuntary response to stimuli </a:t>
            </a:r>
            <a:r>
              <a:rPr lang="en-GB" sz="3300" b="1" i="0" dirty="0">
                <a:solidFill>
                  <a:srgbClr val="202124"/>
                </a:solidFill>
                <a:effectLst/>
                <a:latin typeface="Google Sans"/>
              </a:rPr>
              <a:t>e.g. </a:t>
            </a:r>
            <a:r>
              <a:rPr lang="en-GB" sz="3300" b="1" dirty="0">
                <a:solidFill>
                  <a:srgbClr val="202124"/>
                </a:solidFill>
                <a:latin typeface="Google Sans"/>
              </a:rPr>
              <a:t>p</a:t>
            </a:r>
            <a:r>
              <a:rPr lang="en-GB" sz="3300" b="1" i="0" dirty="0">
                <a:solidFill>
                  <a:srgbClr val="202124"/>
                </a:solidFill>
                <a:effectLst/>
                <a:latin typeface="Google Sans"/>
              </a:rPr>
              <a:t>ulling our hands away immediately after touching a hot or cold object.</a:t>
            </a:r>
            <a:r>
              <a:rPr lang="en-GB" sz="3300" b="1" dirty="0">
                <a:solidFill>
                  <a:srgbClr val="202124"/>
                </a:solidFill>
                <a:latin typeface="Google Sans"/>
              </a:rPr>
              <a:t> </a:t>
            </a:r>
          </a:p>
          <a:p>
            <a:r>
              <a:rPr lang="en-GB" sz="3300" dirty="0"/>
              <a:t>Another example is someone walking on an unfamiliar path at night and spots a deep hole ahead. Or The visual system perceives it and relays this information to the brain. </a:t>
            </a:r>
          </a:p>
          <a:p>
            <a:pPr fontAlgn="base"/>
            <a:r>
              <a:rPr lang="en-GB" sz="3300" dirty="0"/>
              <a:t>The brain then sends signals to engage the muscles to take action.</a:t>
            </a:r>
          </a:p>
          <a:p>
            <a:pPr fontAlgn="base"/>
            <a:r>
              <a:rPr lang="en-GB" sz="3300" dirty="0"/>
              <a:t>The somatic system allows one to turn the body and move to a different part of the path, successfully avoiding the deep hole and preventing a possibly dangerous fall into the hole.</a:t>
            </a:r>
          </a:p>
          <a:p>
            <a:endParaRPr lang="en-KE" dirty="0"/>
          </a:p>
        </p:txBody>
      </p:sp>
    </p:spTree>
    <p:extLst>
      <p:ext uri="{BB962C8B-B14F-4D97-AF65-F5344CB8AC3E}">
        <p14:creationId xmlns:p14="http://schemas.microsoft.com/office/powerpoint/2010/main" val="3572729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B03AD-7EB8-024B-BE14-1BE35E8AF767}"/>
              </a:ext>
            </a:extLst>
          </p:cNvPr>
          <p:cNvSpPr>
            <a:spLocks noGrp="1"/>
          </p:cNvSpPr>
          <p:nvPr>
            <p:ph type="title"/>
          </p:nvPr>
        </p:nvSpPr>
        <p:spPr/>
        <p:txBody>
          <a:bodyPr/>
          <a:lstStyle/>
          <a:p>
            <a:r>
              <a:rPr lang="en-US" b="1" dirty="0"/>
              <a:t>The Sympathetic and the Parasympathetic Nervous Systems</a:t>
            </a:r>
            <a:endParaRPr lang="en-KE" dirty="0"/>
          </a:p>
        </p:txBody>
      </p:sp>
      <p:sp>
        <p:nvSpPr>
          <p:cNvPr id="3" name="Content Placeholder 2">
            <a:extLst>
              <a:ext uri="{FF2B5EF4-FFF2-40B4-BE49-F238E27FC236}">
                <a16:creationId xmlns:a16="http://schemas.microsoft.com/office/drawing/2014/main" id="{D5FF9CAD-3D58-2D48-A426-2FC37E164E2D}"/>
              </a:ext>
            </a:extLst>
          </p:cNvPr>
          <p:cNvSpPr>
            <a:spLocks noGrp="1"/>
          </p:cNvSpPr>
          <p:nvPr>
            <p:ph idx="1"/>
          </p:nvPr>
        </p:nvSpPr>
        <p:spPr/>
        <p:txBody>
          <a:bodyPr>
            <a:normAutofit fontScale="25000" lnSpcReduction="20000"/>
          </a:bodyPr>
          <a:lstStyle/>
          <a:p>
            <a:r>
              <a:rPr lang="en-GB" sz="11000" dirty="0"/>
              <a:t>The </a:t>
            </a:r>
            <a:r>
              <a:rPr lang="en-GB" sz="11000" b="1" dirty="0"/>
              <a:t>sympathetic system </a:t>
            </a:r>
            <a:r>
              <a:rPr lang="en-GB" sz="11000" dirty="0"/>
              <a:t>adjusts our bodies for situations of increased physical activity. Its actions are commonly described as the “fight-or-flight” response as it stimulates responses such as faster breathing, increased heart rate, elevated blood pressure, dilated pupils and redirection of blood flow from the skin, kidneys, stomach  and intestines to the heart and muscles, where it’s needed. </a:t>
            </a:r>
          </a:p>
          <a:p>
            <a:r>
              <a:rPr lang="en-GB" sz="11000" dirty="0"/>
              <a:t>The </a:t>
            </a:r>
            <a:r>
              <a:rPr lang="en-GB" sz="11000" b="1" dirty="0"/>
              <a:t>parasympathetic nervous system </a:t>
            </a:r>
            <a:r>
              <a:rPr lang="en-GB" sz="11000" dirty="0"/>
              <a:t>(PSNS) adjusts our bodies for energy conservation, activating “rest and digest” or “feed and breed” activities. </a:t>
            </a:r>
          </a:p>
          <a:p>
            <a:r>
              <a:rPr lang="en-GB" sz="9600" dirty="0"/>
              <a:t>Thus, the </a:t>
            </a:r>
            <a:r>
              <a:rPr lang="en-GB" sz="9600" b="1" dirty="0"/>
              <a:t>sympathetic nervous system</a:t>
            </a:r>
            <a:r>
              <a:rPr lang="en-GB" sz="9600" dirty="0"/>
              <a:t> activates the fight or flight response during a threat or perceived danger, and the </a:t>
            </a:r>
            <a:r>
              <a:rPr lang="en-GB" sz="9600" b="1" dirty="0"/>
              <a:t>parasympathetic nervous system</a:t>
            </a:r>
            <a:r>
              <a:rPr lang="en-GB" sz="9600" dirty="0"/>
              <a:t> restores the body to a state of calmness/ composed state.</a:t>
            </a:r>
          </a:p>
          <a:p>
            <a:endParaRPr lang="en-GB" sz="11000" dirty="0"/>
          </a:p>
          <a:p>
            <a:pPr marL="0" indent="0">
              <a:buNone/>
            </a:pPr>
            <a:br>
              <a:rPr lang="en-GB" sz="4400" dirty="0"/>
            </a:br>
            <a:endParaRPr lang="en-GB" sz="4100" dirty="0"/>
          </a:p>
          <a:p>
            <a:pPr marL="0" indent="0">
              <a:buNone/>
            </a:pPr>
            <a:endParaRPr lang="en-KE" dirty="0"/>
          </a:p>
        </p:txBody>
      </p:sp>
    </p:spTree>
    <p:extLst>
      <p:ext uri="{BB962C8B-B14F-4D97-AF65-F5344CB8AC3E}">
        <p14:creationId xmlns:p14="http://schemas.microsoft.com/office/powerpoint/2010/main" val="4031929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AFEDC-D067-514B-8278-A94683CEBF6D}"/>
              </a:ext>
            </a:extLst>
          </p:cNvPr>
          <p:cNvSpPr>
            <a:spLocks noGrp="1"/>
          </p:cNvSpPr>
          <p:nvPr>
            <p:ph type="title"/>
          </p:nvPr>
        </p:nvSpPr>
        <p:spPr/>
        <p:txBody>
          <a:bodyPr>
            <a:noAutofit/>
          </a:bodyPr>
          <a:lstStyle/>
          <a:p>
            <a:r>
              <a:rPr lang="en-GB" sz="3200" b="1" dirty="0"/>
              <a:t>Difference between Sympathetic And Parasympathetic Nervous System</a:t>
            </a:r>
            <a:br>
              <a:rPr lang="en-GB" sz="3200" dirty="0"/>
            </a:br>
            <a:endParaRPr lang="en-KE" sz="3200" dirty="0"/>
          </a:p>
        </p:txBody>
      </p:sp>
      <p:sp>
        <p:nvSpPr>
          <p:cNvPr id="3" name="Content Placeholder 2">
            <a:extLst>
              <a:ext uri="{FF2B5EF4-FFF2-40B4-BE49-F238E27FC236}">
                <a16:creationId xmlns:a16="http://schemas.microsoft.com/office/drawing/2014/main" id="{1A15965E-5D50-274E-A072-6D122ED174D2}"/>
              </a:ext>
            </a:extLst>
          </p:cNvPr>
          <p:cNvSpPr>
            <a:spLocks noGrp="1"/>
          </p:cNvSpPr>
          <p:nvPr>
            <p:ph idx="1"/>
          </p:nvPr>
        </p:nvSpPr>
        <p:spPr/>
        <p:txBody>
          <a:bodyPr>
            <a:normAutofit/>
          </a:bodyPr>
          <a:lstStyle/>
          <a:p>
            <a:r>
              <a:rPr lang="en-GB" dirty="0"/>
              <a:t>The differences between the two are based on the way the body responds to environmental stimuli.</a:t>
            </a:r>
          </a:p>
          <a:p>
            <a:r>
              <a:rPr lang="en-GB" dirty="0"/>
              <a:t>The major differences between sympathetic and parasympathetic nervous system are summarised below:</a:t>
            </a:r>
          </a:p>
          <a:p>
            <a:endParaRPr lang="en-KE" dirty="0"/>
          </a:p>
        </p:txBody>
      </p:sp>
    </p:spTree>
    <p:extLst>
      <p:ext uri="{BB962C8B-B14F-4D97-AF65-F5344CB8AC3E}">
        <p14:creationId xmlns:p14="http://schemas.microsoft.com/office/powerpoint/2010/main" val="2210817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8D7BD-0BB2-C944-B084-70B30F7E3556}"/>
              </a:ext>
            </a:extLst>
          </p:cNvPr>
          <p:cNvSpPr>
            <a:spLocks noGrp="1"/>
          </p:cNvSpPr>
          <p:nvPr>
            <p:ph type="title"/>
          </p:nvPr>
        </p:nvSpPr>
        <p:spPr/>
        <p:txBody>
          <a:bodyPr/>
          <a:lstStyle/>
          <a:p>
            <a:r>
              <a:rPr lang="en-GB" dirty="0"/>
              <a:t>C</a:t>
            </a:r>
            <a:r>
              <a:rPr lang="en-KE" dirty="0"/>
              <a:t>ont. </a:t>
            </a:r>
          </a:p>
        </p:txBody>
      </p:sp>
      <p:graphicFrame>
        <p:nvGraphicFramePr>
          <p:cNvPr id="4" name="Content Placeholder 3">
            <a:extLst>
              <a:ext uri="{FF2B5EF4-FFF2-40B4-BE49-F238E27FC236}">
                <a16:creationId xmlns:a16="http://schemas.microsoft.com/office/drawing/2014/main" id="{677C939F-68A6-7E4D-BD43-7EB7A2E7DF37}"/>
              </a:ext>
            </a:extLst>
          </p:cNvPr>
          <p:cNvGraphicFramePr>
            <a:graphicFrameLocks noGrp="1"/>
          </p:cNvGraphicFramePr>
          <p:nvPr>
            <p:ph idx="1"/>
            <p:extLst>
              <p:ext uri="{D42A27DB-BD31-4B8C-83A1-F6EECF244321}">
                <p14:modId xmlns:p14="http://schemas.microsoft.com/office/powerpoint/2010/main" val="3132980975"/>
              </p:ext>
            </p:extLst>
          </p:nvPr>
        </p:nvGraphicFramePr>
        <p:xfrm>
          <a:off x="838200" y="1709542"/>
          <a:ext cx="10515600" cy="5022933"/>
        </p:xfrm>
        <a:graphic>
          <a:graphicData uri="http://schemas.openxmlformats.org/drawingml/2006/table">
            <a:tbl>
              <a:tblPr/>
              <a:tblGrid>
                <a:gridCol w="5257800">
                  <a:extLst>
                    <a:ext uri="{9D8B030D-6E8A-4147-A177-3AD203B41FA5}">
                      <a16:colId xmlns:a16="http://schemas.microsoft.com/office/drawing/2014/main" val="4033150192"/>
                    </a:ext>
                  </a:extLst>
                </a:gridCol>
                <a:gridCol w="5257800">
                  <a:extLst>
                    <a:ext uri="{9D8B030D-6E8A-4147-A177-3AD203B41FA5}">
                      <a16:colId xmlns:a16="http://schemas.microsoft.com/office/drawing/2014/main" val="3694780776"/>
                    </a:ext>
                  </a:extLst>
                </a:gridCol>
              </a:tblGrid>
              <a:tr h="724959">
                <a:tc>
                  <a:txBody>
                    <a:bodyPr/>
                    <a:lstStyle/>
                    <a:p>
                      <a:pPr algn="ctr" rtl="0"/>
                      <a:r>
                        <a:rPr lang="en-GB" b="1" dirty="0">
                          <a:effectLst/>
                        </a:rPr>
                        <a:t>Sympathetic</a:t>
                      </a:r>
                      <a:endParaRPr lang="en-GB" dirty="0">
                        <a:effectLst/>
                      </a:endParaRPr>
                    </a:p>
                  </a:txBody>
                  <a:tcPr marL="104775" marR="104775"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rtl="0"/>
                      <a:r>
                        <a:rPr lang="en-GB" b="1" dirty="0">
                          <a:effectLst/>
                        </a:rPr>
                        <a:t>Parasympathetic</a:t>
                      </a:r>
                      <a:endParaRPr lang="en-GB" dirty="0">
                        <a:effectLst/>
                      </a:endParaRPr>
                    </a:p>
                  </a:txBody>
                  <a:tcPr marL="104775" marR="104775"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46590108"/>
                  </a:ext>
                </a:extLst>
              </a:tr>
              <a:tr h="1191005">
                <a:tc>
                  <a:txBody>
                    <a:bodyPr/>
                    <a:lstStyle/>
                    <a:p>
                      <a:pPr marL="285750" indent="-285750" rtl="0">
                        <a:buFont typeface="Arial" panose="020B0604020202020204" pitchFamily="34" charset="0"/>
                        <a:buChar char="•"/>
                      </a:pPr>
                      <a:r>
                        <a:rPr lang="en-GB" dirty="0">
                          <a:effectLst/>
                        </a:rPr>
                        <a:t> Involved in the fight or flight response.</a:t>
                      </a:r>
                    </a:p>
                  </a:txBody>
                  <a:tcPr marL="104775" marR="104775"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285750" indent="-285750" rtl="0">
                        <a:buFont typeface="Arial" panose="020B0604020202020204" pitchFamily="34" charset="0"/>
                        <a:buChar char="•"/>
                      </a:pPr>
                      <a:r>
                        <a:rPr lang="en-GB" dirty="0">
                          <a:effectLst/>
                        </a:rPr>
                        <a:t> Involved in maintaining homeostasis and also, permits rest and digest response.</a:t>
                      </a:r>
                    </a:p>
                  </a:txBody>
                  <a:tcPr marL="104775" marR="104775"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872838988"/>
                  </a:ext>
                </a:extLst>
              </a:tr>
              <a:tr h="1191005">
                <a:tc>
                  <a:txBody>
                    <a:bodyPr/>
                    <a:lstStyle/>
                    <a:p>
                      <a:pPr marL="285750" indent="-285750" rtl="0">
                        <a:buFont typeface="Arial" panose="020B0604020202020204" pitchFamily="34" charset="0"/>
                        <a:buChar char="•"/>
                      </a:pPr>
                      <a:r>
                        <a:rPr lang="en-GB" dirty="0">
                          <a:effectLst/>
                        </a:rPr>
                        <a:t> Prepares the body for any potential danger.</a:t>
                      </a:r>
                    </a:p>
                  </a:txBody>
                  <a:tcPr marL="104775" marR="104775"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285750" indent="-285750" rtl="0">
                        <a:buFont typeface="Arial" panose="020B0604020202020204" pitchFamily="34" charset="0"/>
                        <a:buChar char="•"/>
                      </a:pPr>
                      <a:r>
                        <a:rPr lang="en-GB" dirty="0">
                          <a:effectLst/>
                        </a:rPr>
                        <a:t> Aims at bringing the body to a state of calmness.</a:t>
                      </a:r>
                    </a:p>
                  </a:txBody>
                  <a:tcPr marL="104775" marR="104775"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4093881236"/>
                  </a:ext>
                </a:extLst>
              </a:tr>
              <a:tr h="1191005">
                <a:tc>
                  <a:txBody>
                    <a:bodyPr/>
                    <a:lstStyle/>
                    <a:p>
                      <a:pPr marL="285750" indent="-285750" rtl="0">
                        <a:buFont typeface="Arial" panose="020B0604020202020204" pitchFamily="34" charset="0"/>
                        <a:buChar char="•"/>
                      </a:pPr>
                      <a:r>
                        <a:rPr lang="en-GB" dirty="0">
                          <a:effectLst/>
                        </a:rPr>
                        <a:t> Has shorter neuron pathways, hence a faster response time.</a:t>
                      </a:r>
                    </a:p>
                  </a:txBody>
                  <a:tcPr marL="104775" marR="104775"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285750" indent="-285750" rtl="0">
                        <a:buFont typeface="Arial" panose="020B0604020202020204" pitchFamily="34" charset="0"/>
                        <a:buChar char="•"/>
                      </a:pPr>
                      <a:r>
                        <a:rPr lang="en-GB" dirty="0">
                          <a:effectLst/>
                        </a:rPr>
                        <a:t> Has comparatively longer neuron pathways, hence a slower response time.</a:t>
                      </a:r>
                    </a:p>
                  </a:txBody>
                  <a:tcPr marL="104775" marR="104775"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647278015"/>
                  </a:ext>
                </a:extLst>
              </a:tr>
              <a:tr h="724959">
                <a:tc>
                  <a:txBody>
                    <a:bodyPr/>
                    <a:lstStyle/>
                    <a:p>
                      <a:pPr marL="285750" indent="-285750" rtl="0">
                        <a:buFont typeface="Arial" panose="020B0604020202020204" pitchFamily="34" charset="0"/>
                        <a:buChar char="•"/>
                      </a:pPr>
                      <a:r>
                        <a:rPr lang="en-GB" dirty="0">
                          <a:effectLst/>
                        </a:rPr>
                        <a:t> Increases heartbeat, muscles tense up.</a:t>
                      </a:r>
                    </a:p>
                  </a:txBody>
                  <a:tcPr marL="104775" marR="104775"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285750" indent="-285750" rtl="0">
                        <a:buFont typeface="Arial" panose="020B0604020202020204" pitchFamily="34" charset="0"/>
                        <a:buChar char="•"/>
                      </a:pPr>
                      <a:r>
                        <a:rPr lang="en-GB" dirty="0">
                          <a:effectLst/>
                        </a:rPr>
                        <a:t> Reduces heartbeat, muscles relaxes.</a:t>
                      </a:r>
                    </a:p>
                  </a:txBody>
                  <a:tcPr marL="104775" marR="104775"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571135690"/>
                  </a:ext>
                </a:extLst>
              </a:tr>
            </a:tbl>
          </a:graphicData>
        </a:graphic>
      </p:graphicFrame>
    </p:spTree>
    <p:extLst>
      <p:ext uri="{BB962C8B-B14F-4D97-AF65-F5344CB8AC3E}">
        <p14:creationId xmlns:p14="http://schemas.microsoft.com/office/powerpoint/2010/main" val="3301577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9218B-682A-FB40-9FAA-C4B82D3B93F6}"/>
              </a:ext>
            </a:extLst>
          </p:cNvPr>
          <p:cNvSpPr>
            <a:spLocks noGrp="1"/>
          </p:cNvSpPr>
          <p:nvPr>
            <p:ph type="title"/>
          </p:nvPr>
        </p:nvSpPr>
        <p:spPr/>
        <p:txBody>
          <a:bodyPr/>
          <a:lstStyle/>
          <a:p>
            <a:r>
              <a:rPr lang="en-GB" dirty="0"/>
              <a:t>C</a:t>
            </a:r>
            <a:r>
              <a:rPr lang="en-KE" dirty="0"/>
              <a:t>ont.</a:t>
            </a:r>
          </a:p>
        </p:txBody>
      </p:sp>
      <p:graphicFrame>
        <p:nvGraphicFramePr>
          <p:cNvPr id="4" name="Content Placeholder 3">
            <a:extLst>
              <a:ext uri="{FF2B5EF4-FFF2-40B4-BE49-F238E27FC236}">
                <a16:creationId xmlns:a16="http://schemas.microsoft.com/office/drawing/2014/main" id="{ED891C39-10B5-C947-99EC-FB170E2F34FC}"/>
              </a:ext>
            </a:extLst>
          </p:cNvPr>
          <p:cNvGraphicFramePr>
            <a:graphicFrameLocks noGrp="1"/>
          </p:cNvGraphicFramePr>
          <p:nvPr>
            <p:ph idx="1"/>
            <p:extLst>
              <p:ext uri="{D42A27DB-BD31-4B8C-83A1-F6EECF244321}">
                <p14:modId xmlns:p14="http://schemas.microsoft.com/office/powerpoint/2010/main" val="538460112"/>
              </p:ext>
            </p:extLst>
          </p:nvPr>
        </p:nvGraphicFramePr>
        <p:xfrm>
          <a:off x="838200" y="2675413"/>
          <a:ext cx="10515600" cy="3817461"/>
        </p:xfrm>
        <a:graphic>
          <a:graphicData uri="http://schemas.openxmlformats.org/drawingml/2006/table">
            <a:tbl>
              <a:tblPr/>
              <a:tblGrid>
                <a:gridCol w="5257800">
                  <a:extLst>
                    <a:ext uri="{9D8B030D-6E8A-4147-A177-3AD203B41FA5}">
                      <a16:colId xmlns:a16="http://schemas.microsoft.com/office/drawing/2014/main" val="565684412"/>
                    </a:ext>
                  </a:extLst>
                </a:gridCol>
                <a:gridCol w="5257800">
                  <a:extLst>
                    <a:ext uri="{9D8B030D-6E8A-4147-A177-3AD203B41FA5}">
                      <a16:colId xmlns:a16="http://schemas.microsoft.com/office/drawing/2014/main" val="3769544044"/>
                    </a:ext>
                  </a:extLst>
                </a:gridCol>
              </a:tblGrid>
              <a:tr h="890741">
                <a:tc>
                  <a:txBody>
                    <a:bodyPr/>
                    <a:lstStyle/>
                    <a:p>
                      <a:pPr rtl="0"/>
                      <a:r>
                        <a:rPr lang="en-GB">
                          <a:effectLst/>
                        </a:rPr>
                        <a:t> The pupil dilates to let in more light.</a:t>
                      </a:r>
                    </a:p>
                  </a:txBody>
                  <a:tcPr marL="104775" marR="104775"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rtl="0"/>
                      <a:r>
                        <a:rPr lang="en-GB">
                          <a:effectLst/>
                        </a:rPr>
                        <a:t> The pupil contracts.</a:t>
                      </a:r>
                    </a:p>
                  </a:txBody>
                  <a:tcPr marL="104775" marR="104775"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66700855"/>
                  </a:ext>
                </a:extLst>
              </a:tr>
              <a:tr h="890741">
                <a:tc>
                  <a:txBody>
                    <a:bodyPr/>
                    <a:lstStyle/>
                    <a:p>
                      <a:pPr rtl="0"/>
                      <a:r>
                        <a:rPr lang="en-GB">
                          <a:effectLst/>
                        </a:rPr>
                        <a:t> Saliva secretion is inhibited.</a:t>
                      </a:r>
                    </a:p>
                  </a:txBody>
                  <a:tcPr marL="104775" marR="104775"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rtl="0"/>
                      <a:r>
                        <a:rPr lang="en-GB">
                          <a:effectLst/>
                        </a:rPr>
                        <a:t> Saliva secretion increases, digestion increases.</a:t>
                      </a:r>
                    </a:p>
                  </a:txBody>
                  <a:tcPr marL="104775" marR="104775"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846534153"/>
                  </a:ext>
                </a:extLst>
              </a:tr>
              <a:tr h="2035979">
                <a:tc>
                  <a:txBody>
                    <a:bodyPr/>
                    <a:lstStyle/>
                    <a:p>
                      <a:pPr rtl="0"/>
                      <a:r>
                        <a:rPr lang="en-GB" dirty="0">
                          <a:effectLst/>
                        </a:rPr>
                        <a:t> On “fight and flight” situations, Adrenaline is released by the adrenal glands; more glycogen is converted to glucose.</a:t>
                      </a:r>
                    </a:p>
                  </a:txBody>
                  <a:tcPr marL="104775" marR="104775"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rtl="0"/>
                      <a:r>
                        <a:rPr lang="en-GB" dirty="0">
                          <a:effectLst/>
                        </a:rPr>
                        <a:t> No such functions exist in “fight or flight” situations.</a:t>
                      </a:r>
                    </a:p>
                  </a:txBody>
                  <a:tcPr marL="104775" marR="104775"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84039392"/>
                  </a:ext>
                </a:extLst>
              </a:tr>
            </a:tbl>
          </a:graphicData>
        </a:graphic>
      </p:graphicFrame>
    </p:spTree>
    <p:extLst>
      <p:ext uri="{BB962C8B-B14F-4D97-AF65-F5344CB8AC3E}">
        <p14:creationId xmlns:p14="http://schemas.microsoft.com/office/powerpoint/2010/main" val="910353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A1C5C-F868-4744-BC69-FC28856FC180}"/>
              </a:ext>
            </a:extLst>
          </p:cNvPr>
          <p:cNvSpPr>
            <a:spLocks noGrp="1"/>
          </p:cNvSpPr>
          <p:nvPr>
            <p:ph type="title"/>
          </p:nvPr>
        </p:nvSpPr>
        <p:spPr/>
        <p:txBody>
          <a:bodyPr>
            <a:normAutofit fontScale="90000"/>
          </a:bodyPr>
          <a:lstStyle/>
          <a:p>
            <a:br>
              <a:rPr lang="en-US" b="1" dirty="0"/>
            </a:br>
            <a:r>
              <a:rPr lang="en-US" b="1" dirty="0"/>
              <a:t>The Cardiovascular System</a:t>
            </a:r>
            <a:br>
              <a:rPr lang="en-KE" dirty="0"/>
            </a:br>
            <a:endParaRPr lang="en-KE" dirty="0"/>
          </a:p>
        </p:txBody>
      </p:sp>
      <p:sp>
        <p:nvSpPr>
          <p:cNvPr id="3" name="Content Placeholder 2">
            <a:extLst>
              <a:ext uri="{FF2B5EF4-FFF2-40B4-BE49-F238E27FC236}">
                <a16:creationId xmlns:a16="http://schemas.microsoft.com/office/drawing/2014/main" id="{1CCD7C6F-08F5-F54F-B3E4-31F20D880302}"/>
              </a:ext>
            </a:extLst>
          </p:cNvPr>
          <p:cNvSpPr>
            <a:spLocks noGrp="1"/>
          </p:cNvSpPr>
          <p:nvPr>
            <p:ph idx="1"/>
          </p:nvPr>
        </p:nvSpPr>
        <p:spPr/>
        <p:txBody>
          <a:bodyPr>
            <a:normAutofit/>
          </a:bodyPr>
          <a:lstStyle/>
          <a:p>
            <a:r>
              <a:rPr lang="en-GB" dirty="0"/>
              <a:t>The cardiovascular system consists of </a:t>
            </a:r>
            <a:r>
              <a:rPr lang="en-GB" b="1" dirty="0"/>
              <a:t>the heart, blood vessels which </a:t>
            </a:r>
            <a:r>
              <a:rPr lang="en-GB" dirty="0"/>
              <a:t>include arteries and veins</a:t>
            </a:r>
            <a:r>
              <a:rPr lang="en-GB" b="1" dirty="0"/>
              <a:t>, and blood</a:t>
            </a:r>
            <a:r>
              <a:rPr lang="en-GB" dirty="0"/>
              <a:t>. </a:t>
            </a:r>
          </a:p>
          <a:p>
            <a:r>
              <a:rPr lang="en-GB" dirty="0"/>
              <a:t>Its primary function is to transport/deliver nutrients and oxygen-rich blood to all parts of the body and to carry deoxygenated blood back to the lungs.(</a:t>
            </a:r>
            <a:r>
              <a:rPr lang="en-GB" i="1" dirty="0"/>
              <a:t>deoxygenated blood is the blood</a:t>
            </a:r>
            <a:r>
              <a:rPr lang="en-GB" b="0" i="1" dirty="0">
                <a:solidFill>
                  <a:srgbClr val="040C28"/>
                </a:solidFill>
                <a:effectLst/>
                <a:latin typeface="Google Sans"/>
              </a:rPr>
              <a:t> with a reduced oxygen concentration as compared to blood departing the lungs</a:t>
            </a:r>
            <a:r>
              <a:rPr lang="en-GB" b="0" i="0" dirty="0">
                <a:solidFill>
                  <a:srgbClr val="040C28"/>
                </a:solidFill>
                <a:effectLst/>
                <a:latin typeface="Google Sans"/>
              </a:rPr>
              <a:t>)</a:t>
            </a:r>
            <a:r>
              <a:rPr lang="en-GB" b="0" i="0" dirty="0">
                <a:solidFill>
                  <a:srgbClr val="202124"/>
                </a:solidFill>
                <a:effectLst/>
                <a:latin typeface="Google Sans"/>
              </a:rPr>
              <a:t>.</a:t>
            </a:r>
            <a:endParaRPr lang="en-GB" dirty="0"/>
          </a:p>
          <a:p>
            <a:r>
              <a:rPr lang="en-GB" dirty="0"/>
              <a:t> The heart pumps blood from the lungs out to the rest of the body. </a:t>
            </a:r>
          </a:p>
          <a:p>
            <a:r>
              <a:rPr lang="en-GB" b="1" dirty="0"/>
              <a:t>The blood vessels deliver oxygen and nutrients to the tissues and carry waste products to the organs responsible for elimination.</a:t>
            </a:r>
            <a:endParaRPr lang="en-KE" b="1" dirty="0"/>
          </a:p>
        </p:txBody>
      </p:sp>
    </p:spTree>
    <p:extLst>
      <p:ext uri="{BB962C8B-B14F-4D97-AF65-F5344CB8AC3E}">
        <p14:creationId xmlns:p14="http://schemas.microsoft.com/office/powerpoint/2010/main" val="4907352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53722-F98E-4743-84E7-BF081B663DB5}"/>
              </a:ext>
            </a:extLst>
          </p:cNvPr>
          <p:cNvSpPr>
            <a:spLocks noGrp="1"/>
          </p:cNvSpPr>
          <p:nvPr>
            <p:ph type="title"/>
          </p:nvPr>
        </p:nvSpPr>
        <p:spPr/>
        <p:txBody>
          <a:bodyPr>
            <a:normAutofit fontScale="90000"/>
          </a:bodyPr>
          <a:lstStyle/>
          <a:p>
            <a:br>
              <a:rPr lang="en-GB" b="1" dirty="0"/>
            </a:br>
            <a:r>
              <a:rPr lang="en-GB" b="1" dirty="0"/>
              <a:t>Functions of the cardiovascular system</a:t>
            </a:r>
            <a:br>
              <a:rPr lang="en-GB" dirty="0"/>
            </a:br>
            <a:endParaRPr lang="en-KE" dirty="0"/>
          </a:p>
        </p:txBody>
      </p:sp>
      <p:sp>
        <p:nvSpPr>
          <p:cNvPr id="3" name="Content Placeholder 2">
            <a:extLst>
              <a:ext uri="{FF2B5EF4-FFF2-40B4-BE49-F238E27FC236}">
                <a16:creationId xmlns:a16="http://schemas.microsoft.com/office/drawing/2014/main" id="{67ED1587-9417-694A-9650-7358487FCE01}"/>
              </a:ext>
            </a:extLst>
          </p:cNvPr>
          <p:cNvSpPr>
            <a:spLocks noGrp="1"/>
          </p:cNvSpPr>
          <p:nvPr>
            <p:ph idx="1"/>
          </p:nvPr>
        </p:nvSpPr>
        <p:spPr/>
        <p:txBody>
          <a:bodyPr>
            <a:normAutofit/>
          </a:bodyPr>
          <a:lstStyle/>
          <a:p>
            <a:r>
              <a:rPr lang="en-GB" sz="3200" dirty="0"/>
              <a:t>Circulates oxygen and removes Carbon Dioxide.</a:t>
            </a:r>
          </a:p>
          <a:p>
            <a:r>
              <a:rPr lang="en-GB" sz="3200" dirty="0"/>
              <a:t>Provides cells with nutrients.</a:t>
            </a:r>
          </a:p>
          <a:p>
            <a:r>
              <a:rPr lang="en-GB" sz="3200" dirty="0"/>
              <a:t>Removes the waste products of metabolism to the excretory organs for disposal.</a:t>
            </a:r>
          </a:p>
          <a:p>
            <a:r>
              <a:rPr lang="en-GB" sz="3200" dirty="0"/>
              <a:t>Protects the body against disease and infection.</a:t>
            </a:r>
          </a:p>
          <a:p>
            <a:r>
              <a:rPr lang="en-GB" sz="3200" b="1" dirty="0"/>
              <a:t>Maintenance</a:t>
            </a:r>
            <a:r>
              <a:rPr lang="en-GB" sz="3200" dirty="0"/>
              <a:t> of constant body temperature (</a:t>
            </a:r>
            <a:r>
              <a:rPr lang="en-GB" sz="3200" b="1" dirty="0"/>
              <a:t>thermoregulation</a:t>
            </a:r>
            <a:r>
              <a:rPr lang="en-GB" sz="3200" dirty="0"/>
              <a:t>)</a:t>
            </a:r>
          </a:p>
          <a:p>
            <a:r>
              <a:rPr lang="en-GB" sz="3200" dirty="0"/>
              <a:t>Maintaining </a:t>
            </a:r>
            <a:r>
              <a:rPr lang="en-GB" sz="3200" b="1" dirty="0"/>
              <a:t>fluid balance </a:t>
            </a:r>
            <a:r>
              <a:rPr lang="en-GB" sz="3200" dirty="0"/>
              <a:t>within the body.</a:t>
            </a:r>
          </a:p>
          <a:p>
            <a:endParaRPr lang="en-GB" sz="3200" dirty="0"/>
          </a:p>
          <a:p>
            <a:endParaRPr lang="en-KE" dirty="0"/>
          </a:p>
        </p:txBody>
      </p:sp>
    </p:spTree>
    <p:extLst>
      <p:ext uri="{BB962C8B-B14F-4D97-AF65-F5344CB8AC3E}">
        <p14:creationId xmlns:p14="http://schemas.microsoft.com/office/powerpoint/2010/main" val="29783215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493</TotalTime>
  <Words>1188</Words>
  <Application>Microsoft Macintosh PowerPoint</Application>
  <PresentationFormat>Widescreen</PresentationFormat>
  <Paragraphs>81</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Google Sans</vt:lpstr>
      <vt:lpstr>Times New Roman</vt:lpstr>
      <vt:lpstr>Office Theme</vt:lpstr>
      <vt:lpstr>         LESSON 2 </vt:lpstr>
      <vt:lpstr>Introduction </vt:lpstr>
      <vt:lpstr> Structure of Nervous System </vt:lpstr>
      <vt:lpstr>Cont.</vt:lpstr>
      <vt:lpstr>Cont.</vt:lpstr>
      <vt:lpstr> Somatic Nervous System &amp; Autonomic Nervous System </vt:lpstr>
      <vt:lpstr>Cont. </vt:lpstr>
      <vt:lpstr>Autonomic Nervous System</vt:lpstr>
      <vt:lpstr>Cont.</vt:lpstr>
      <vt:lpstr>The Sympathetic and the Parasympathetic Nervous Systems</vt:lpstr>
      <vt:lpstr>Difference between Sympathetic And Parasympathetic Nervous System </vt:lpstr>
      <vt:lpstr>Cont. </vt:lpstr>
      <vt:lpstr>Cont.</vt:lpstr>
      <vt:lpstr> The Cardiovascular System </vt:lpstr>
      <vt:lpstr> Functions of the cardiovascular system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LESSON 3 </dc:title>
  <dc:creator>njeri.muturi2014@gmail.com</dc:creator>
  <cp:lastModifiedBy>njeri.muturi2014@gmail.com</cp:lastModifiedBy>
  <cp:revision>21</cp:revision>
  <dcterms:created xsi:type="dcterms:W3CDTF">2021-01-23T09:01:02Z</dcterms:created>
  <dcterms:modified xsi:type="dcterms:W3CDTF">2023-10-03T17:40:29Z</dcterms:modified>
</cp:coreProperties>
</file>