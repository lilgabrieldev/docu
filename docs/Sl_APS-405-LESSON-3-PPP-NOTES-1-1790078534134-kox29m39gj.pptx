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77" r:id="rId4"/>
    <p:sldId id="258" r:id="rId5"/>
    <p:sldId id="276" r:id="rId6"/>
    <p:sldId id="261" r:id="rId7"/>
    <p:sldId id="262" r:id="rId8"/>
    <p:sldId id="263" r:id="rId9"/>
    <p:sldId id="264" r:id="rId10"/>
    <p:sldId id="265" r:id="rId11"/>
    <p:sldId id="266" r:id="rId12"/>
    <p:sldId id="268" r:id="rId13"/>
    <p:sldId id="269" r:id="rId14"/>
    <p:sldId id="270" r:id="rId15"/>
    <p:sldId id="271" r:id="rId16"/>
    <p:sldId id="278" r:id="rId17"/>
    <p:sldId id="267" r:id="rId18"/>
    <p:sldId id="273" r:id="rId19"/>
    <p:sldId id="274" r:id="rId20"/>
    <p:sldId id="259" r:id="rId21"/>
    <p:sldId id="275" r:id="rId22"/>
  </p:sldIdLst>
  <p:sldSz cx="12192000" cy="6858000"/>
  <p:notesSz cx="6858000" cy="9144000"/>
  <p:defaultText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03"/>
  </p:normalViewPr>
  <p:slideViewPr>
    <p:cSldViewPr snapToGrid="0" snapToObjects="1">
      <p:cViewPr varScale="1">
        <p:scale>
          <a:sx n="102" d="100"/>
          <a:sy n="102" d="100"/>
        </p:scale>
        <p:origin x="95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B74808-3291-3F4A-B7BF-423FEDA7398D}" type="datetimeFigureOut">
              <a:rPr lang="en-KE" smtClean="0"/>
              <a:t>02/10/2023</a:t>
            </a:fld>
            <a:endParaRPr lang="en-K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K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D4EE12-981D-234A-85C1-D309E503EF23}" type="slidenum">
              <a:rPr lang="en-KE" smtClean="0"/>
              <a:t>‹#›</a:t>
            </a:fld>
            <a:endParaRPr lang="en-KE"/>
          </a:p>
        </p:txBody>
      </p:sp>
    </p:spTree>
    <p:extLst>
      <p:ext uri="{BB962C8B-B14F-4D97-AF65-F5344CB8AC3E}">
        <p14:creationId xmlns:p14="http://schemas.microsoft.com/office/powerpoint/2010/main" val="771710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2EF40-19E8-E844-8154-391CF701D1A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KE"/>
          </a:p>
        </p:txBody>
      </p:sp>
      <p:sp>
        <p:nvSpPr>
          <p:cNvPr id="3" name="Subtitle 2">
            <a:extLst>
              <a:ext uri="{FF2B5EF4-FFF2-40B4-BE49-F238E27FC236}">
                <a16:creationId xmlns:a16="http://schemas.microsoft.com/office/drawing/2014/main" id="{081555B6-60C0-D74A-BBB4-300672EBDB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KE"/>
          </a:p>
        </p:txBody>
      </p:sp>
      <p:sp>
        <p:nvSpPr>
          <p:cNvPr id="4" name="Date Placeholder 3">
            <a:extLst>
              <a:ext uri="{FF2B5EF4-FFF2-40B4-BE49-F238E27FC236}">
                <a16:creationId xmlns:a16="http://schemas.microsoft.com/office/drawing/2014/main" id="{35BF48D2-0301-714E-861F-1F8A4335109D}"/>
              </a:ext>
            </a:extLst>
          </p:cNvPr>
          <p:cNvSpPr>
            <a:spLocks noGrp="1"/>
          </p:cNvSpPr>
          <p:nvPr>
            <p:ph type="dt" sz="half" idx="10"/>
          </p:nvPr>
        </p:nvSpPr>
        <p:spPr/>
        <p:txBody>
          <a:bodyPr/>
          <a:lstStyle/>
          <a:p>
            <a:fld id="{368BAF98-0B36-0040-AA4E-E7B9A9F2D145}" type="datetimeFigureOut">
              <a:rPr lang="en-KE" smtClean="0"/>
              <a:t>02/10/2023</a:t>
            </a:fld>
            <a:endParaRPr lang="en-KE"/>
          </a:p>
        </p:txBody>
      </p:sp>
      <p:sp>
        <p:nvSpPr>
          <p:cNvPr id="5" name="Footer Placeholder 4">
            <a:extLst>
              <a:ext uri="{FF2B5EF4-FFF2-40B4-BE49-F238E27FC236}">
                <a16:creationId xmlns:a16="http://schemas.microsoft.com/office/drawing/2014/main" id="{9AABC5FD-41F4-444F-8A7A-2BBA0313F16C}"/>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C31DD6CA-1548-4C47-8870-153CF48E3BF3}"/>
              </a:ext>
            </a:extLst>
          </p:cNvPr>
          <p:cNvSpPr>
            <a:spLocks noGrp="1"/>
          </p:cNvSpPr>
          <p:nvPr>
            <p:ph type="sldNum" sz="quarter" idx="12"/>
          </p:nvPr>
        </p:nvSpPr>
        <p:spPr/>
        <p:txBody>
          <a:bodyPr/>
          <a:lstStyle/>
          <a:p>
            <a:fld id="{37C76FEF-E408-A148-8351-3890BB3FA462}" type="slidenum">
              <a:rPr lang="en-KE" smtClean="0"/>
              <a:t>‹#›</a:t>
            </a:fld>
            <a:endParaRPr lang="en-KE"/>
          </a:p>
        </p:txBody>
      </p:sp>
    </p:spTree>
    <p:extLst>
      <p:ext uri="{BB962C8B-B14F-4D97-AF65-F5344CB8AC3E}">
        <p14:creationId xmlns:p14="http://schemas.microsoft.com/office/powerpoint/2010/main" val="40349123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ECB03-C009-B74B-B8C9-F41B73A890AE}"/>
              </a:ext>
            </a:extLst>
          </p:cNvPr>
          <p:cNvSpPr>
            <a:spLocks noGrp="1"/>
          </p:cNvSpPr>
          <p:nvPr>
            <p:ph type="title"/>
          </p:nvPr>
        </p:nvSpPr>
        <p:spPr/>
        <p:txBody>
          <a:bodyPr/>
          <a:lstStyle/>
          <a:p>
            <a:r>
              <a:rPr lang="en-GB"/>
              <a:t>Click to edit Master title style</a:t>
            </a:r>
            <a:endParaRPr lang="en-KE"/>
          </a:p>
        </p:txBody>
      </p:sp>
      <p:sp>
        <p:nvSpPr>
          <p:cNvPr id="3" name="Content Placeholder 2">
            <a:extLst>
              <a:ext uri="{FF2B5EF4-FFF2-40B4-BE49-F238E27FC236}">
                <a16:creationId xmlns:a16="http://schemas.microsoft.com/office/drawing/2014/main" id="{A11B0AE4-1A74-9D45-8ABB-6A66B96B56D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4" name="Date Placeholder 3">
            <a:extLst>
              <a:ext uri="{FF2B5EF4-FFF2-40B4-BE49-F238E27FC236}">
                <a16:creationId xmlns:a16="http://schemas.microsoft.com/office/drawing/2014/main" id="{153E079D-6F61-9148-8A5A-419D64C93193}"/>
              </a:ext>
            </a:extLst>
          </p:cNvPr>
          <p:cNvSpPr>
            <a:spLocks noGrp="1"/>
          </p:cNvSpPr>
          <p:nvPr>
            <p:ph type="dt" sz="half" idx="10"/>
          </p:nvPr>
        </p:nvSpPr>
        <p:spPr/>
        <p:txBody>
          <a:bodyPr/>
          <a:lstStyle/>
          <a:p>
            <a:fld id="{368BAF98-0B36-0040-AA4E-E7B9A9F2D145}" type="datetimeFigureOut">
              <a:rPr lang="en-KE" smtClean="0"/>
              <a:t>02/10/2023</a:t>
            </a:fld>
            <a:endParaRPr lang="en-KE"/>
          </a:p>
        </p:txBody>
      </p:sp>
      <p:sp>
        <p:nvSpPr>
          <p:cNvPr id="5" name="Footer Placeholder 4">
            <a:extLst>
              <a:ext uri="{FF2B5EF4-FFF2-40B4-BE49-F238E27FC236}">
                <a16:creationId xmlns:a16="http://schemas.microsoft.com/office/drawing/2014/main" id="{9972DF03-826B-9F41-AAD5-49A01226B83E}"/>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AAFF383E-9F17-F04F-99CA-3A38B431AB3F}"/>
              </a:ext>
            </a:extLst>
          </p:cNvPr>
          <p:cNvSpPr>
            <a:spLocks noGrp="1"/>
          </p:cNvSpPr>
          <p:nvPr>
            <p:ph type="sldNum" sz="quarter" idx="12"/>
          </p:nvPr>
        </p:nvSpPr>
        <p:spPr/>
        <p:txBody>
          <a:bodyPr/>
          <a:lstStyle/>
          <a:p>
            <a:fld id="{37C76FEF-E408-A148-8351-3890BB3FA462}" type="slidenum">
              <a:rPr lang="en-KE" smtClean="0"/>
              <a:t>‹#›</a:t>
            </a:fld>
            <a:endParaRPr lang="en-KE"/>
          </a:p>
        </p:txBody>
      </p:sp>
    </p:spTree>
    <p:extLst>
      <p:ext uri="{BB962C8B-B14F-4D97-AF65-F5344CB8AC3E}">
        <p14:creationId xmlns:p14="http://schemas.microsoft.com/office/powerpoint/2010/main" val="3445904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C164A-1465-B74B-8935-B687ACC0A0C9}"/>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KE"/>
          </a:p>
        </p:txBody>
      </p:sp>
      <p:sp>
        <p:nvSpPr>
          <p:cNvPr id="3" name="Text Placeholder 2">
            <a:extLst>
              <a:ext uri="{FF2B5EF4-FFF2-40B4-BE49-F238E27FC236}">
                <a16:creationId xmlns:a16="http://schemas.microsoft.com/office/drawing/2014/main" id="{C896136A-A91E-E649-8CE8-BFB06B1BDDC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E6AAC5E-A1EB-044A-A4F9-E27AD236AD82}"/>
              </a:ext>
            </a:extLst>
          </p:cNvPr>
          <p:cNvSpPr>
            <a:spLocks noGrp="1"/>
          </p:cNvSpPr>
          <p:nvPr>
            <p:ph type="dt" sz="half" idx="10"/>
          </p:nvPr>
        </p:nvSpPr>
        <p:spPr/>
        <p:txBody>
          <a:bodyPr/>
          <a:lstStyle/>
          <a:p>
            <a:fld id="{368BAF98-0B36-0040-AA4E-E7B9A9F2D145}" type="datetimeFigureOut">
              <a:rPr lang="en-KE" smtClean="0"/>
              <a:t>02/10/2023</a:t>
            </a:fld>
            <a:endParaRPr lang="en-KE"/>
          </a:p>
        </p:txBody>
      </p:sp>
      <p:sp>
        <p:nvSpPr>
          <p:cNvPr id="5" name="Footer Placeholder 4">
            <a:extLst>
              <a:ext uri="{FF2B5EF4-FFF2-40B4-BE49-F238E27FC236}">
                <a16:creationId xmlns:a16="http://schemas.microsoft.com/office/drawing/2014/main" id="{CC0C4FEB-BBE7-7E44-AD6D-159AE45D3E73}"/>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6D61221F-1D10-4144-A859-CFF79D70010C}"/>
              </a:ext>
            </a:extLst>
          </p:cNvPr>
          <p:cNvSpPr>
            <a:spLocks noGrp="1"/>
          </p:cNvSpPr>
          <p:nvPr>
            <p:ph type="sldNum" sz="quarter" idx="12"/>
          </p:nvPr>
        </p:nvSpPr>
        <p:spPr/>
        <p:txBody>
          <a:bodyPr/>
          <a:lstStyle/>
          <a:p>
            <a:fld id="{37C76FEF-E408-A148-8351-3890BB3FA462}" type="slidenum">
              <a:rPr lang="en-KE" smtClean="0"/>
              <a:t>‹#›</a:t>
            </a:fld>
            <a:endParaRPr lang="en-KE"/>
          </a:p>
        </p:txBody>
      </p:sp>
    </p:spTree>
    <p:extLst>
      <p:ext uri="{BB962C8B-B14F-4D97-AF65-F5344CB8AC3E}">
        <p14:creationId xmlns:p14="http://schemas.microsoft.com/office/powerpoint/2010/main" val="2111943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BBEDF-E209-4248-8DF4-79525178BA9A}"/>
              </a:ext>
            </a:extLst>
          </p:cNvPr>
          <p:cNvSpPr>
            <a:spLocks noGrp="1"/>
          </p:cNvSpPr>
          <p:nvPr>
            <p:ph type="title"/>
          </p:nvPr>
        </p:nvSpPr>
        <p:spPr/>
        <p:txBody>
          <a:bodyPr/>
          <a:lstStyle/>
          <a:p>
            <a:r>
              <a:rPr lang="en-GB"/>
              <a:t>Click to edit Master title style</a:t>
            </a:r>
            <a:endParaRPr lang="en-KE"/>
          </a:p>
        </p:txBody>
      </p:sp>
      <p:sp>
        <p:nvSpPr>
          <p:cNvPr id="3" name="Content Placeholder 2">
            <a:extLst>
              <a:ext uri="{FF2B5EF4-FFF2-40B4-BE49-F238E27FC236}">
                <a16:creationId xmlns:a16="http://schemas.microsoft.com/office/drawing/2014/main" id="{DC051672-7FFB-A34E-B7C1-1D012487AC2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4" name="Content Placeholder 3">
            <a:extLst>
              <a:ext uri="{FF2B5EF4-FFF2-40B4-BE49-F238E27FC236}">
                <a16:creationId xmlns:a16="http://schemas.microsoft.com/office/drawing/2014/main" id="{44C5E2EC-1F56-3A4A-BCF0-93486364A61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5" name="Date Placeholder 4">
            <a:extLst>
              <a:ext uri="{FF2B5EF4-FFF2-40B4-BE49-F238E27FC236}">
                <a16:creationId xmlns:a16="http://schemas.microsoft.com/office/drawing/2014/main" id="{6E7D81CA-C7D7-C741-95A9-86FFA34B2CCE}"/>
              </a:ext>
            </a:extLst>
          </p:cNvPr>
          <p:cNvSpPr>
            <a:spLocks noGrp="1"/>
          </p:cNvSpPr>
          <p:nvPr>
            <p:ph type="dt" sz="half" idx="10"/>
          </p:nvPr>
        </p:nvSpPr>
        <p:spPr/>
        <p:txBody>
          <a:bodyPr/>
          <a:lstStyle/>
          <a:p>
            <a:fld id="{368BAF98-0B36-0040-AA4E-E7B9A9F2D145}" type="datetimeFigureOut">
              <a:rPr lang="en-KE" smtClean="0"/>
              <a:t>02/10/2023</a:t>
            </a:fld>
            <a:endParaRPr lang="en-KE"/>
          </a:p>
        </p:txBody>
      </p:sp>
      <p:sp>
        <p:nvSpPr>
          <p:cNvPr id="6" name="Footer Placeholder 5">
            <a:extLst>
              <a:ext uri="{FF2B5EF4-FFF2-40B4-BE49-F238E27FC236}">
                <a16:creationId xmlns:a16="http://schemas.microsoft.com/office/drawing/2014/main" id="{A4875632-CC46-9F44-88A1-B566B4BD57F1}"/>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07DD816D-FCC8-DF4D-B31E-EEC427F54369}"/>
              </a:ext>
            </a:extLst>
          </p:cNvPr>
          <p:cNvSpPr>
            <a:spLocks noGrp="1"/>
          </p:cNvSpPr>
          <p:nvPr>
            <p:ph type="sldNum" sz="quarter" idx="12"/>
          </p:nvPr>
        </p:nvSpPr>
        <p:spPr/>
        <p:txBody>
          <a:bodyPr/>
          <a:lstStyle/>
          <a:p>
            <a:fld id="{37C76FEF-E408-A148-8351-3890BB3FA462}" type="slidenum">
              <a:rPr lang="en-KE" smtClean="0"/>
              <a:t>‹#›</a:t>
            </a:fld>
            <a:endParaRPr lang="en-KE"/>
          </a:p>
        </p:txBody>
      </p:sp>
    </p:spTree>
    <p:extLst>
      <p:ext uri="{BB962C8B-B14F-4D97-AF65-F5344CB8AC3E}">
        <p14:creationId xmlns:p14="http://schemas.microsoft.com/office/powerpoint/2010/main" val="2718364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67BB3-FC2C-EC4F-AA02-CE5A4A24014B}"/>
              </a:ext>
            </a:extLst>
          </p:cNvPr>
          <p:cNvSpPr>
            <a:spLocks noGrp="1"/>
          </p:cNvSpPr>
          <p:nvPr>
            <p:ph type="title"/>
          </p:nvPr>
        </p:nvSpPr>
        <p:spPr>
          <a:xfrm>
            <a:off x="839788" y="365125"/>
            <a:ext cx="10515600" cy="1325563"/>
          </a:xfrm>
        </p:spPr>
        <p:txBody>
          <a:bodyPr/>
          <a:lstStyle/>
          <a:p>
            <a:r>
              <a:rPr lang="en-GB"/>
              <a:t>Click to edit Master title style</a:t>
            </a:r>
            <a:endParaRPr lang="en-KE"/>
          </a:p>
        </p:txBody>
      </p:sp>
      <p:sp>
        <p:nvSpPr>
          <p:cNvPr id="3" name="Text Placeholder 2">
            <a:extLst>
              <a:ext uri="{FF2B5EF4-FFF2-40B4-BE49-F238E27FC236}">
                <a16:creationId xmlns:a16="http://schemas.microsoft.com/office/drawing/2014/main" id="{D4E4375D-497D-AD4D-B334-E9E69B0086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E57059B-81B2-0B42-8772-725660841A4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5" name="Text Placeholder 4">
            <a:extLst>
              <a:ext uri="{FF2B5EF4-FFF2-40B4-BE49-F238E27FC236}">
                <a16:creationId xmlns:a16="http://schemas.microsoft.com/office/drawing/2014/main" id="{9F1D8BB2-79B4-E443-8404-22E60EA4E0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90E3E58-D30E-5B41-B6F0-F152AF457A9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7" name="Date Placeholder 6">
            <a:extLst>
              <a:ext uri="{FF2B5EF4-FFF2-40B4-BE49-F238E27FC236}">
                <a16:creationId xmlns:a16="http://schemas.microsoft.com/office/drawing/2014/main" id="{C8CA9862-16F1-2249-BF72-8FD7956673CB}"/>
              </a:ext>
            </a:extLst>
          </p:cNvPr>
          <p:cNvSpPr>
            <a:spLocks noGrp="1"/>
          </p:cNvSpPr>
          <p:nvPr>
            <p:ph type="dt" sz="half" idx="10"/>
          </p:nvPr>
        </p:nvSpPr>
        <p:spPr/>
        <p:txBody>
          <a:bodyPr/>
          <a:lstStyle/>
          <a:p>
            <a:fld id="{368BAF98-0B36-0040-AA4E-E7B9A9F2D145}" type="datetimeFigureOut">
              <a:rPr lang="en-KE" smtClean="0"/>
              <a:t>02/10/2023</a:t>
            </a:fld>
            <a:endParaRPr lang="en-KE"/>
          </a:p>
        </p:txBody>
      </p:sp>
      <p:sp>
        <p:nvSpPr>
          <p:cNvPr id="8" name="Footer Placeholder 7">
            <a:extLst>
              <a:ext uri="{FF2B5EF4-FFF2-40B4-BE49-F238E27FC236}">
                <a16:creationId xmlns:a16="http://schemas.microsoft.com/office/drawing/2014/main" id="{C1E03CFF-3683-824C-809A-791B641EF456}"/>
              </a:ext>
            </a:extLst>
          </p:cNvPr>
          <p:cNvSpPr>
            <a:spLocks noGrp="1"/>
          </p:cNvSpPr>
          <p:nvPr>
            <p:ph type="ftr" sz="quarter" idx="11"/>
          </p:nvPr>
        </p:nvSpPr>
        <p:spPr/>
        <p:txBody>
          <a:bodyPr/>
          <a:lstStyle/>
          <a:p>
            <a:endParaRPr lang="en-KE"/>
          </a:p>
        </p:txBody>
      </p:sp>
      <p:sp>
        <p:nvSpPr>
          <p:cNvPr id="9" name="Slide Number Placeholder 8">
            <a:extLst>
              <a:ext uri="{FF2B5EF4-FFF2-40B4-BE49-F238E27FC236}">
                <a16:creationId xmlns:a16="http://schemas.microsoft.com/office/drawing/2014/main" id="{50DEE215-D4AB-1E42-9A97-43F6290C6EDB}"/>
              </a:ext>
            </a:extLst>
          </p:cNvPr>
          <p:cNvSpPr>
            <a:spLocks noGrp="1"/>
          </p:cNvSpPr>
          <p:nvPr>
            <p:ph type="sldNum" sz="quarter" idx="12"/>
          </p:nvPr>
        </p:nvSpPr>
        <p:spPr/>
        <p:txBody>
          <a:bodyPr/>
          <a:lstStyle/>
          <a:p>
            <a:fld id="{37C76FEF-E408-A148-8351-3890BB3FA462}" type="slidenum">
              <a:rPr lang="en-KE" smtClean="0"/>
              <a:t>‹#›</a:t>
            </a:fld>
            <a:endParaRPr lang="en-KE"/>
          </a:p>
        </p:txBody>
      </p:sp>
    </p:spTree>
    <p:extLst>
      <p:ext uri="{BB962C8B-B14F-4D97-AF65-F5344CB8AC3E}">
        <p14:creationId xmlns:p14="http://schemas.microsoft.com/office/powerpoint/2010/main" val="3642700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C36B5-6524-E449-829E-8B6E119E4F00}"/>
              </a:ext>
            </a:extLst>
          </p:cNvPr>
          <p:cNvSpPr>
            <a:spLocks noGrp="1"/>
          </p:cNvSpPr>
          <p:nvPr>
            <p:ph type="title"/>
          </p:nvPr>
        </p:nvSpPr>
        <p:spPr/>
        <p:txBody>
          <a:bodyPr/>
          <a:lstStyle/>
          <a:p>
            <a:r>
              <a:rPr lang="en-GB"/>
              <a:t>Click to edit Master title style</a:t>
            </a:r>
            <a:endParaRPr lang="en-KE"/>
          </a:p>
        </p:txBody>
      </p:sp>
      <p:sp>
        <p:nvSpPr>
          <p:cNvPr id="3" name="Date Placeholder 2">
            <a:extLst>
              <a:ext uri="{FF2B5EF4-FFF2-40B4-BE49-F238E27FC236}">
                <a16:creationId xmlns:a16="http://schemas.microsoft.com/office/drawing/2014/main" id="{DC786D1E-AA86-A84A-BB51-AEB941B56E1D}"/>
              </a:ext>
            </a:extLst>
          </p:cNvPr>
          <p:cNvSpPr>
            <a:spLocks noGrp="1"/>
          </p:cNvSpPr>
          <p:nvPr>
            <p:ph type="dt" sz="half" idx="10"/>
          </p:nvPr>
        </p:nvSpPr>
        <p:spPr/>
        <p:txBody>
          <a:bodyPr/>
          <a:lstStyle/>
          <a:p>
            <a:fld id="{368BAF98-0B36-0040-AA4E-E7B9A9F2D145}" type="datetimeFigureOut">
              <a:rPr lang="en-KE" smtClean="0"/>
              <a:t>02/10/2023</a:t>
            </a:fld>
            <a:endParaRPr lang="en-KE"/>
          </a:p>
        </p:txBody>
      </p:sp>
      <p:sp>
        <p:nvSpPr>
          <p:cNvPr id="4" name="Footer Placeholder 3">
            <a:extLst>
              <a:ext uri="{FF2B5EF4-FFF2-40B4-BE49-F238E27FC236}">
                <a16:creationId xmlns:a16="http://schemas.microsoft.com/office/drawing/2014/main" id="{35EFF770-280A-6D4B-BB27-CC76A8FA7F23}"/>
              </a:ext>
            </a:extLst>
          </p:cNvPr>
          <p:cNvSpPr>
            <a:spLocks noGrp="1"/>
          </p:cNvSpPr>
          <p:nvPr>
            <p:ph type="ftr" sz="quarter" idx="11"/>
          </p:nvPr>
        </p:nvSpPr>
        <p:spPr/>
        <p:txBody>
          <a:bodyPr/>
          <a:lstStyle/>
          <a:p>
            <a:endParaRPr lang="en-KE"/>
          </a:p>
        </p:txBody>
      </p:sp>
      <p:sp>
        <p:nvSpPr>
          <p:cNvPr id="5" name="Slide Number Placeholder 4">
            <a:extLst>
              <a:ext uri="{FF2B5EF4-FFF2-40B4-BE49-F238E27FC236}">
                <a16:creationId xmlns:a16="http://schemas.microsoft.com/office/drawing/2014/main" id="{88015B0B-0E3C-4E43-B0C9-231CEC07688A}"/>
              </a:ext>
            </a:extLst>
          </p:cNvPr>
          <p:cNvSpPr>
            <a:spLocks noGrp="1"/>
          </p:cNvSpPr>
          <p:nvPr>
            <p:ph type="sldNum" sz="quarter" idx="12"/>
          </p:nvPr>
        </p:nvSpPr>
        <p:spPr/>
        <p:txBody>
          <a:bodyPr/>
          <a:lstStyle/>
          <a:p>
            <a:fld id="{37C76FEF-E408-A148-8351-3890BB3FA462}" type="slidenum">
              <a:rPr lang="en-KE" smtClean="0"/>
              <a:t>‹#›</a:t>
            </a:fld>
            <a:endParaRPr lang="en-KE"/>
          </a:p>
        </p:txBody>
      </p:sp>
    </p:spTree>
    <p:extLst>
      <p:ext uri="{BB962C8B-B14F-4D97-AF65-F5344CB8AC3E}">
        <p14:creationId xmlns:p14="http://schemas.microsoft.com/office/powerpoint/2010/main" val="18544216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255170-4ECC-E947-A215-87A0D8D8141F}"/>
              </a:ext>
            </a:extLst>
          </p:cNvPr>
          <p:cNvSpPr>
            <a:spLocks noGrp="1"/>
          </p:cNvSpPr>
          <p:nvPr>
            <p:ph type="dt" sz="half" idx="10"/>
          </p:nvPr>
        </p:nvSpPr>
        <p:spPr/>
        <p:txBody>
          <a:bodyPr/>
          <a:lstStyle/>
          <a:p>
            <a:fld id="{368BAF98-0B36-0040-AA4E-E7B9A9F2D145}" type="datetimeFigureOut">
              <a:rPr lang="en-KE" smtClean="0"/>
              <a:t>02/10/2023</a:t>
            </a:fld>
            <a:endParaRPr lang="en-KE"/>
          </a:p>
        </p:txBody>
      </p:sp>
      <p:sp>
        <p:nvSpPr>
          <p:cNvPr id="3" name="Footer Placeholder 2">
            <a:extLst>
              <a:ext uri="{FF2B5EF4-FFF2-40B4-BE49-F238E27FC236}">
                <a16:creationId xmlns:a16="http://schemas.microsoft.com/office/drawing/2014/main" id="{AD0F7331-4834-6D42-AD9F-7FDFE454C022}"/>
              </a:ext>
            </a:extLst>
          </p:cNvPr>
          <p:cNvSpPr>
            <a:spLocks noGrp="1"/>
          </p:cNvSpPr>
          <p:nvPr>
            <p:ph type="ftr" sz="quarter" idx="11"/>
          </p:nvPr>
        </p:nvSpPr>
        <p:spPr/>
        <p:txBody>
          <a:bodyPr/>
          <a:lstStyle/>
          <a:p>
            <a:endParaRPr lang="en-KE"/>
          </a:p>
        </p:txBody>
      </p:sp>
      <p:sp>
        <p:nvSpPr>
          <p:cNvPr id="4" name="Slide Number Placeholder 3">
            <a:extLst>
              <a:ext uri="{FF2B5EF4-FFF2-40B4-BE49-F238E27FC236}">
                <a16:creationId xmlns:a16="http://schemas.microsoft.com/office/drawing/2014/main" id="{3F4A1749-143B-5540-82CF-5A4067998C6B}"/>
              </a:ext>
            </a:extLst>
          </p:cNvPr>
          <p:cNvSpPr>
            <a:spLocks noGrp="1"/>
          </p:cNvSpPr>
          <p:nvPr>
            <p:ph type="sldNum" sz="quarter" idx="12"/>
          </p:nvPr>
        </p:nvSpPr>
        <p:spPr/>
        <p:txBody>
          <a:bodyPr/>
          <a:lstStyle/>
          <a:p>
            <a:fld id="{37C76FEF-E408-A148-8351-3890BB3FA462}" type="slidenum">
              <a:rPr lang="en-KE" smtClean="0"/>
              <a:t>‹#›</a:t>
            </a:fld>
            <a:endParaRPr lang="en-KE"/>
          </a:p>
        </p:txBody>
      </p:sp>
    </p:spTree>
    <p:extLst>
      <p:ext uri="{BB962C8B-B14F-4D97-AF65-F5344CB8AC3E}">
        <p14:creationId xmlns:p14="http://schemas.microsoft.com/office/powerpoint/2010/main" val="460024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8FD4-C15E-BB49-A6CE-E20D21CA3EA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KE"/>
          </a:p>
        </p:txBody>
      </p:sp>
      <p:sp>
        <p:nvSpPr>
          <p:cNvPr id="3" name="Content Placeholder 2">
            <a:extLst>
              <a:ext uri="{FF2B5EF4-FFF2-40B4-BE49-F238E27FC236}">
                <a16:creationId xmlns:a16="http://schemas.microsoft.com/office/drawing/2014/main" id="{FE3429E3-B19C-0B42-B4BE-4C11F0E859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4" name="Text Placeholder 3">
            <a:extLst>
              <a:ext uri="{FF2B5EF4-FFF2-40B4-BE49-F238E27FC236}">
                <a16:creationId xmlns:a16="http://schemas.microsoft.com/office/drawing/2014/main" id="{1C19D180-84CE-9F43-833B-C7FB3DB8A9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D2ED37-2B71-C94F-9C37-059D37337C20}"/>
              </a:ext>
            </a:extLst>
          </p:cNvPr>
          <p:cNvSpPr>
            <a:spLocks noGrp="1"/>
          </p:cNvSpPr>
          <p:nvPr>
            <p:ph type="dt" sz="half" idx="10"/>
          </p:nvPr>
        </p:nvSpPr>
        <p:spPr/>
        <p:txBody>
          <a:bodyPr/>
          <a:lstStyle/>
          <a:p>
            <a:fld id="{368BAF98-0B36-0040-AA4E-E7B9A9F2D145}" type="datetimeFigureOut">
              <a:rPr lang="en-KE" smtClean="0"/>
              <a:t>02/10/2023</a:t>
            </a:fld>
            <a:endParaRPr lang="en-KE"/>
          </a:p>
        </p:txBody>
      </p:sp>
      <p:sp>
        <p:nvSpPr>
          <p:cNvPr id="6" name="Footer Placeholder 5">
            <a:extLst>
              <a:ext uri="{FF2B5EF4-FFF2-40B4-BE49-F238E27FC236}">
                <a16:creationId xmlns:a16="http://schemas.microsoft.com/office/drawing/2014/main" id="{ED920F16-0CCC-3847-BD9E-475B185B3DDE}"/>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9B6B1CA8-FFE6-DA4D-B5DA-74740996CEFB}"/>
              </a:ext>
            </a:extLst>
          </p:cNvPr>
          <p:cNvSpPr>
            <a:spLocks noGrp="1"/>
          </p:cNvSpPr>
          <p:nvPr>
            <p:ph type="sldNum" sz="quarter" idx="12"/>
          </p:nvPr>
        </p:nvSpPr>
        <p:spPr/>
        <p:txBody>
          <a:bodyPr/>
          <a:lstStyle/>
          <a:p>
            <a:fld id="{37C76FEF-E408-A148-8351-3890BB3FA462}" type="slidenum">
              <a:rPr lang="en-KE" smtClean="0"/>
              <a:t>‹#›</a:t>
            </a:fld>
            <a:endParaRPr lang="en-KE"/>
          </a:p>
        </p:txBody>
      </p:sp>
    </p:spTree>
    <p:extLst>
      <p:ext uri="{BB962C8B-B14F-4D97-AF65-F5344CB8AC3E}">
        <p14:creationId xmlns:p14="http://schemas.microsoft.com/office/powerpoint/2010/main" val="1766890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58887-2EFE-A146-A038-0499DB02FEC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KE"/>
          </a:p>
        </p:txBody>
      </p:sp>
      <p:sp>
        <p:nvSpPr>
          <p:cNvPr id="3" name="Picture Placeholder 2">
            <a:extLst>
              <a:ext uri="{FF2B5EF4-FFF2-40B4-BE49-F238E27FC236}">
                <a16:creationId xmlns:a16="http://schemas.microsoft.com/office/drawing/2014/main" id="{350FAABB-ECD2-554F-A1B1-358931ADEA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KE"/>
          </a:p>
        </p:txBody>
      </p:sp>
      <p:sp>
        <p:nvSpPr>
          <p:cNvPr id="4" name="Text Placeholder 3">
            <a:extLst>
              <a:ext uri="{FF2B5EF4-FFF2-40B4-BE49-F238E27FC236}">
                <a16:creationId xmlns:a16="http://schemas.microsoft.com/office/drawing/2014/main" id="{7F628D0C-E07F-2B4E-8100-E22A9BA8D3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CE28F7C-F94A-7142-BA12-50C89194AC53}"/>
              </a:ext>
            </a:extLst>
          </p:cNvPr>
          <p:cNvSpPr>
            <a:spLocks noGrp="1"/>
          </p:cNvSpPr>
          <p:nvPr>
            <p:ph type="dt" sz="half" idx="10"/>
          </p:nvPr>
        </p:nvSpPr>
        <p:spPr/>
        <p:txBody>
          <a:bodyPr/>
          <a:lstStyle/>
          <a:p>
            <a:fld id="{368BAF98-0B36-0040-AA4E-E7B9A9F2D145}" type="datetimeFigureOut">
              <a:rPr lang="en-KE" smtClean="0"/>
              <a:t>02/10/2023</a:t>
            </a:fld>
            <a:endParaRPr lang="en-KE"/>
          </a:p>
        </p:txBody>
      </p:sp>
      <p:sp>
        <p:nvSpPr>
          <p:cNvPr id="6" name="Footer Placeholder 5">
            <a:extLst>
              <a:ext uri="{FF2B5EF4-FFF2-40B4-BE49-F238E27FC236}">
                <a16:creationId xmlns:a16="http://schemas.microsoft.com/office/drawing/2014/main" id="{908B06DE-D919-634C-854B-E526BDEA6EC1}"/>
              </a:ext>
            </a:extLst>
          </p:cNvPr>
          <p:cNvSpPr>
            <a:spLocks noGrp="1"/>
          </p:cNvSpPr>
          <p:nvPr>
            <p:ph type="ftr" sz="quarter" idx="11"/>
          </p:nvPr>
        </p:nvSpPr>
        <p:spPr/>
        <p:txBody>
          <a:bodyPr/>
          <a:lstStyle/>
          <a:p>
            <a:endParaRPr lang="en-KE"/>
          </a:p>
        </p:txBody>
      </p:sp>
      <p:sp>
        <p:nvSpPr>
          <p:cNvPr id="7" name="Slide Number Placeholder 6">
            <a:extLst>
              <a:ext uri="{FF2B5EF4-FFF2-40B4-BE49-F238E27FC236}">
                <a16:creationId xmlns:a16="http://schemas.microsoft.com/office/drawing/2014/main" id="{DFFEE269-F052-5B47-AE65-615DE41A5EF6}"/>
              </a:ext>
            </a:extLst>
          </p:cNvPr>
          <p:cNvSpPr>
            <a:spLocks noGrp="1"/>
          </p:cNvSpPr>
          <p:nvPr>
            <p:ph type="sldNum" sz="quarter" idx="12"/>
          </p:nvPr>
        </p:nvSpPr>
        <p:spPr/>
        <p:txBody>
          <a:bodyPr/>
          <a:lstStyle/>
          <a:p>
            <a:fld id="{37C76FEF-E408-A148-8351-3890BB3FA462}" type="slidenum">
              <a:rPr lang="en-KE" smtClean="0"/>
              <a:t>‹#›</a:t>
            </a:fld>
            <a:endParaRPr lang="en-KE"/>
          </a:p>
        </p:txBody>
      </p:sp>
    </p:spTree>
    <p:extLst>
      <p:ext uri="{BB962C8B-B14F-4D97-AF65-F5344CB8AC3E}">
        <p14:creationId xmlns:p14="http://schemas.microsoft.com/office/powerpoint/2010/main" val="37882437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6107D-2240-7B42-92A2-AF9E9FC24879}"/>
              </a:ext>
            </a:extLst>
          </p:cNvPr>
          <p:cNvSpPr>
            <a:spLocks noGrp="1"/>
          </p:cNvSpPr>
          <p:nvPr>
            <p:ph type="title"/>
          </p:nvPr>
        </p:nvSpPr>
        <p:spPr/>
        <p:txBody>
          <a:bodyPr/>
          <a:lstStyle/>
          <a:p>
            <a:r>
              <a:rPr lang="en-GB"/>
              <a:t>Click to edit Master title style</a:t>
            </a:r>
            <a:endParaRPr lang="en-KE"/>
          </a:p>
        </p:txBody>
      </p:sp>
      <p:sp>
        <p:nvSpPr>
          <p:cNvPr id="3" name="Vertical Text Placeholder 2">
            <a:extLst>
              <a:ext uri="{FF2B5EF4-FFF2-40B4-BE49-F238E27FC236}">
                <a16:creationId xmlns:a16="http://schemas.microsoft.com/office/drawing/2014/main" id="{76572181-1DC0-C84F-879C-015C99FBB57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4" name="Date Placeholder 3">
            <a:extLst>
              <a:ext uri="{FF2B5EF4-FFF2-40B4-BE49-F238E27FC236}">
                <a16:creationId xmlns:a16="http://schemas.microsoft.com/office/drawing/2014/main" id="{4AE93D65-14BA-6E4E-8CEB-A0B717E2075A}"/>
              </a:ext>
            </a:extLst>
          </p:cNvPr>
          <p:cNvSpPr>
            <a:spLocks noGrp="1"/>
          </p:cNvSpPr>
          <p:nvPr>
            <p:ph type="dt" sz="half" idx="10"/>
          </p:nvPr>
        </p:nvSpPr>
        <p:spPr/>
        <p:txBody>
          <a:bodyPr/>
          <a:lstStyle/>
          <a:p>
            <a:fld id="{368BAF98-0B36-0040-AA4E-E7B9A9F2D145}" type="datetimeFigureOut">
              <a:rPr lang="en-KE" smtClean="0"/>
              <a:t>02/10/2023</a:t>
            </a:fld>
            <a:endParaRPr lang="en-KE"/>
          </a:p>
        </p:txBody>
      </p:sp>
      <p:sp>
        <p:nvSpPr>
          <p:cNvPr id="5" name="Footer Placeholder 4">
            <a:extLst>
              <a:ext uri="{FF2B5EF4-FFF2-40B4-BE49-F238E27FC236}">
                <a16:creationId xmlns:a16="http://schemas.microsoft.com/office/drawing/2014/main" id="{98557CB1-9A7E-B149-A785-10CA5AA5E4F4}"/>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427ABEA7-E704-5447-95E5-5329E2078D12}"/>
              </a:ext>
            </a:extLst>
          </p:cNvPr>
          <p:cNvSpPr>
            <a:spLocks noGrp="1"/>
          </p:cNvSpPr>
          <p:nvPr>
            <p:ph type="sldNum" sz="quarter" idx="12"/>
          </p:nvPr>
        </p:nvSpPr>
        <p:spPr/>
        <p:txBody>
          <a:bodyPr/>
          <a:lstStyle/>
          <a:p>
            <a:fld id="{37C76FEF-E408-A148-8351-3890BB3FA462}" type="slidenum">
              <a:rPr lang="en-KE" smtClean="0"/>
              <a:t>‹#›</a:t>
            </a:fld>
            <a:endParaRPr lang="en-KE"/>
          </a:p>
        </p:txBody>
      </p:sp>
    </p:spTree>
    <p:extLst>
      <p:ext uri="{BB962C8B-B14F-4D97-AF65-F5344CB8AC3E}">
        <p14:creationId xmlns:p14="http://schemas.microsoft.com/office/powerpoint/2010/main" val="3841729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2E4B60-806A-B049-8C53-A40ED66D67A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KE"/>
          </a:p>
        </p:txBody>
      </p:sp>
      <p:sp>
        <p:nvSpPr>
          <p:cNvPr id="3" name="Vertical Text Placeholder 2">
            <a:extLst>
              <a:ext uri="{FF2B5EF4-FFF2-40B4-BE49-F238E27FC236}">
                <a16:creationId xmlns:a16="http://schemas.microsoft.com/office/drawing/2014/main" id="{7ED208E9-1B5C-094D-926A-6B25092F08B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4" name="Date Placeholder 3">
            <a:extLst>
              <a:ext uri="{FF2B5EF4-FFF2-40B4-BE49-F238E27FC236}">
                <a16:creationId xmlns:a16="http://schemas.microsoft.com/office/drawing/2014/main" id="{441BC18A-5E1F-7840-981A-D8F6D08D658B}"/>
              </a:ext>
            </a:extLst>
          </p:cNvPr>
          <p:cNvSpPr>
            <a:spLocks noGrp="1"/>
          </p:cNvSpPr>
          <p:nvPr>
            <p:ph type="dt" sz="half" idx="10"/>
          </p:nvPr>
        </p:nvSpPr>
        <p:spPr/>
        <p:txBody>
          <a:bodyPr/>
          <a:lstStyle/>
          <a:p>
            <a:fld id="{368BAF98-0B36-0040-AA4E-E7B9A9F2D145}" type="datetimeFigureOut">
              <a:rPr lang="en-KE" smtClean="0"/>
              <a:t>02/10/2023</a:t>
            </a:fld>
            <a:endParaRPr lang="en-KE"/>
          </a:p>
        </p:txBody>
      </p:sp>
      <p:sp>
        <p:nvSpPr>
          <p:cNvPr id="5" name="Footer Placeholder 4">
            <a:extLst>
              <a:ext uri="{FF2B5EF4-FFF2-40B4-BE49-F238E27FC236}">
                <a16:creationId xmlns:a16="http://schemas.microsoft.com/office/drawing/2014/main" id="{CCBE17F9-0720-E347-9183-9F28FD572B06}"/>
              </a:ext>
            </a:extLst>
          </p:cNvPr>
          <p:cNvSpPr>
            <a:spLocks noGrp="1"/>
          </p:cNvSpPr>
          <p:nvPr>
            <p:ph type="ftr" sz="quarter" idx="11"/>
          </p:nvPr>
        </p:nvSpPr>
        <p:spPr/>
        <p:txBody>
          <a:bodyPr/>
          <a:lstStyle/>
          <a:p>
            <a:endParaRPr lang="en-KE"/>
          </a:p>
        </p:txBody>
      </p:sp>
      <p:sp>
        <p:nvSpPr>
          <p:cNvPr id="6" name="Slide Number Placeholder 5">
            <a:extLst>
              <a:ext uri="{FF2B5EF4-FFF2-40B4-BE49-F238E27FC236}">
                <a16:creationId xmlns:a16="http://schemas.microsoft.com/office/drawing/2014/main" id="{318000B2-1FF2-E542-999A-24EE80F5A40A}"/>
              </a:ext>
            </a:extLst>
          </p:cNvPr>
          <p:cNvSpPr>
            <a:spLocks noGrp="1"/>
          </p:cNvSpPr>
          <p:nvPr>
            <p:ph type="sldNum" sz="quarter" idx="12"/>
          </p:nvPr>
        </p:nvSpPr>
        <p:spPr/>
        <p:txBody>
          <a:bodyPr/>
          <a:lstStyle/>
          <a:p>
            <a:fld id="{37C76FEF-E408-A148-8351-3890BB3FA462}" type="slidenum">
              <a:rPr lang="en-KE" smtClean="0"/>
              <a:t>‹#›</a:t>
            </a:fld>
            <a:endParaRPr lang="en-KE"/>
          </a:p>
        </p:txBody>
      </p:sp>
    </p:spTree>
    <p:extLst>
      <p:ext uri="{BB962C8B-B14F-4D97-AF65-F5344CB8AC3E}">
        <p14:creationId xmlns:p14="http://schemas.microsoft.com/office/powerpoint/2010/main" val="9056655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9974E6-C2C2-4847-8684-F1C1F530DD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KE"/>
          </a:p>
        </p:txBody>
      </p:sp>
      <p:sp>
        <p:nvSpPr>
          <p:cNvPr id="3" name="Text Placeholder 2">
            <a:extLst>
              <a:ext uri="{FF2B5EF4-FFF2-40B4-BE49-F238E27FC236}">
                <a16:creationId xmlns:a16="http://schemas.microsoft.com/office/drawing/2014/main" id="{D0BA43F4-12E8-C14A-9A19-43263168BC1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KE"/>
          </a:p>
        </p:txBody>
      </p:sp>
      <p:sp>
        <p:nvSpPr>
          <p:cNvPr id="4" name="Date Placeholder 3">
            <a:extLst>
              <a:ext uri="{FF2B5EF4-FFF2-40B4-BE49-F238E27FC236}">
                <a16:creationId xmlns:a16="http://schemas.microsoft.com/office/drawing/2014/main" id="{6B0890BD-1808-7D4D-8A1D-03ECF2BAA33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8BAF98-0B36-0040-AA4E-E7B9A9F2D145}" type="datetimeFigureOut">
              <a:rPr lang="en-KE" smtClean="0"/>
              <a:t>02/10/2023</a:t>
            </a:fld>
            <a:endParaRPr lang="en-KE"/>
          </a:p>
        </p:txBody>
      </p:sp>
      <p:sp>
        <p:nvSpPr>
          <p:cNvPr id="5" name="Footer Placeholder 4">
            <a:extLst>
              <a:ext uri="{FF2B5EF4-FFF2-40B4-BE49-F238E27FC236}">
                <a16:creationId xmlns:a16="http://schemas.microsoft.com/office/drawing/2014/main" id="{2B1F7692-3BEA-F24B-986B-03E8C7333C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KE"/>
          </a:p>
        </p:txBody>
      </p:sp>
      <p:sp>
        <p:nvSpPr>
          <p:cNvPr id="6" name="Slide Number Placeholder 5">
            <a:extLst>
              <a:ext uri="{FF2B5EF4-FFF2-40B4-BE49-F238E27FC236}">
                <a16:creationId xmlns:a16="http://schemas.microsoft.com/office/drawing/2014/main" id="{182C4855-7F9C-9746-8BBC-34197CD479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C76FEF-E408-A148-8351-3890BB3FA462}" type="slidenum">
              <a:rPr lang="en-KE" smtClean="0"/>
              <a:t>‹#›</a:t>
            </a:fld>
            <a:endParaRPr lang="en-KE"/>
          </a:p>
        </p:txBody>
      </p:sp>
    </p:spTree>
    <p:extLst>
      <p:ext uri="{BB962C8B-B14F-4D97-AF65-F5344CB8AC3E}">
        <p14:creationId xmlns:p14="http://schemas.microsoft.com/office/powerpoint/2010/main" val="6264398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K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en.wikipedia.org/wiki/Regulation_of_gastric_function#Gastric_phase"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9F76A-DD96-B449-A70B-2BFA0A593C92}"/>
              </a:ext>
            </a:extLst>
          </p:cNvPr>
          <p:cNvSpPr>
            <a:spLocks noGrp="1"/>
          </p:cNvSpPr>
          <p:nvPr>
            <p:ph type="ctrTitle"/>
          </p:nvPr>
        </p:nvSpPr>
        <p:spPr/>
        <p:txBody>
          <a:bodyPr/>
          <a:lstStyle/>
          <a:p>
            <a:r>
              <a:rPr lang="en-KE"/>
              <a:t>LESSON 3 </a:t>
            </a:r>
            <a:r>
              <a:rPr lang="en-KE" dirty="0"/>
              <a:t>PPP NOTES</a:t>
            </a:r>
          </a:p>
        </p:txBody>
      </p:sp>
      <p:sp>
        <p:nvSpPr>
          <p:cNvPr id="3" name="Subtitle 2">
            <a:extLst>
              <a:ext uri="{FF2B5EF4-FFF2-40B4-BE49-F238E27FC236}">
                <a16:creationId xmlns:a16="http://schemas.microsoft.com/office/drawing/2014/main" id="{CC64DFD4-6790-8B41-BC51-2900938062FF}"/>
              </a:ext>
            </a:extLst>
          </p:cNvPr>
          <p:cNvSpPr>
            <a:spLocks noGrp="1"/>
          </p:cNvSpPr>
          <p:nvPr>
            <p:ph type="subTitle" idx="1"/>
          </p:nvPr>
        </p:nvSpPr>
        <p:spPr/>
        <p:txBody>
          <a:bodyPr>
            <a:normAutofit/>
          </a:bodyPr>
          <a:lstStyle/>
          <a:p>
            <a:endParaRPr lang="en-US" b="1" dirty="0"/>
          </a:p>
          <a:p>
            <a:r>
              <a:rPr lang="en-US" b="1" dirty="0"/>
              <a:t>THE HUMAN BODY SYSTEMS II: ENDOCRINE SYSTEM AND DIGESTIVE SYSTEM</a:t>
            </a:r>
            <a:endParaRPr lang="en-KE" b="1" dirty="0"/>
          </a:p>
        </p:txBody>
      </p:sp>
    </p:spTree>
    <p:extLst>
      <p:ext uri="{BB962C8B-B14F-4D97-AF65-F5344CB8AC3E}">
        <p14:creationId xmlns:p14="http://schemas.microsoft.com/office/powerpoint/2010/main" val="9034582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DE332-C608-6B46-B75B-5EC996FAC728}"/>
              </a:ext>
            </a:extLst>
          </p:cNvPr>
          <p:cNvSpPr>
            <a:spLocks noGrp="1"/>
          </p:cNvSpPr>
          <p:nvPr>
            <p:ph type="title"/>
          </p:nvPr>
        </p:nvSpPr>
        <p:spPr/>
        <p:txBody>
          <a:bodyPr/>
          <a:lstStyle/>
          <a:p>
            <a:r>
              <a:rPr lang="en-US" b="1" dirty="0"/>
              <a:t>Introduction</a:t>
            </a:r>
            <a:br>
              <a:rPr lang="en-KE" b="1" dirty="0"/>
            </a:br>
            <a:endParaRPr lang="en-KE" dirty="0"/>
          </a:p>
        </p:txBody>
      </p:sp>
      <p:sp>
        <p:nvSpPr>
          <p:cNvPr id="3" name="Content Placeholder 2">
            <a:extLst>
              <a:ext uri="{FF2B5EF4-FFF2-40B4-BE49-F238E27FC236}">
                <a16:creationId xmlns:a16="http://schemas.microsoft.com/office/drawing/2014/main" id="{CA9A6F03-59F1-B342-B0C0-CD8E605645F2}"/>
              </a:ext>
            </a:extLst>
          </p:cNvPr>
          <p:cNvSpPr>
            <a:spLocks noGrp="1"/>
          </p:cNvSpPr>
          <p:nvPr>
            <p:ph idx="1"/>
          </p:nvPr>
        </p:nvSpPr>
        <p:spPr/>
        <p:txBody>
          <a:bodyPr>
            <a:noAutofit/>
          </a:bodyPr>
          <a:lstStyle/>
          <a:p>
            <a:r>
              <a:rPr lang="en-US" sz="3600" dirty="0"/>
              <a:t>In this lesson, we shall continue with the description of the human body systems.  </a:t>
            </a:r>
          </a:p>
          <a:p>
            <a:pPr marL="342900" indent="-342900">
              <a:spcAft>
                <a:spcPts val="300"/>
              </a:spcAft>
              <a:buSzPts val="1000"/>
              <a:buFont typeface="Symbol" pitchFamily="2" charset="2"/>
              <a:buChar char=""/>
              <a:tabLst>
                <a:tab pos="457200" algn="l"/>
              </a:tabLst>
            </a:pPr>
            <a:r>
              <a:rPr lang="en-US" sz="3600" dirty="0"/>
              <a:t>NB: Human systems comprises of several systems of organs. Every system is comprised of </a:t>
            </a:r>
            <a:r>
              <a:rPr lang="en-GB" sz="3600" b="1" dirty="0">
                <a:solidFill>
                  <a:srgbClr val="202124"/>
                </a:solidFill>
                <a:latin typeface="arial" panose="020B0604020202020204" pitchFamily="34" charset="0"/>
              </a:rPr>
              <a:t>a </a:t>
            </a:r>
            <a:r>
              <a:rPr lang="en-GB" sz="3600" b="1" i="0" dirty="0">
                <a:solidFill>
                  <a:srgbClr val="202124"/>
                </a:solidFill>
                <a:effectLst/>
                <a:latin typeface="arial" panose="020B0604020202020204" pitchFamily="34" charset="0"/>
              </a:rPr>
              <a:t>group of organs that work together to perform one or more functions in the body. </a:t>
            </a:r>
            <a:endParaRPr lang="en-US" sz="3600" dirty="0"/>
          </a:p>
        </p:txBody>
      </p:sp>
    </p:spTree>
    <p:extLst>
      <p:ext uri="{BB962C8B-B14F-4D97-AF65-F5344CB8AC3E}">
        <p14:creationId xmlns:p14="http://schemas.microsoft.com/office/powerpoint/2010/main" val="3433236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31452-AA50-DAE2-D460-ABAF8A9FE626}"/>
              </a:ext>
            </a:extLst>
          </p:cNvPr>
          <p:cNvSpPr>
            <a:spLocks noGrp="1"/>
          </p:cNvSpPr>
          <p:nvPr>
            <p:ph type="title"/>
          </p:nvPr>
        </p:nvSpPr>
        <p:spPr/>
        <p:txBody>
          <a:bodyPr/>
          <a:lstStyle/>
          <a:p>
            <a:r>
              <a:rPr lang="en-GB" dirty="0"/>
              <a:t>C</a:t>
            </a:r>
            <a:r>
              <a:rPr lang="en-KE" dirty="0"/>
              <a:t>ont.</a:t>
            </a:r>
          </a:p>
        </p:txBody>
      </p:sp>
      <p:sp>
        <p:nvSpPr>
          <p:cNvPr id="3" name="Content Placeholder 2">
            <a:extLst>
              <a:ext uri="{FF2B5EF4-FFF2-40B4-BE49-F238E27FC236}">
                <a16:creationId xmlns:a16="http://schemas.microsoft.com/office/drawing/2014/main" id="{3A1697CA-9567-466B-9A72-BF514AC94A40}"/>
              </a:ext>
            </a:extLst>
          </p:cNvPr>
          <p:cNvSpPr>
            <a:spLocks noGrp="1"/>
          </p:cNvSpPr>
          <p:nvPr>
            <p:ph idx="1"/>
          </p:nvPr>
        </p:nvSpPr>
        <p:spPr/>
        <p:txBody>
          <a:bodyPr/>
          <a:lstStyle/>
          <a:p>
            <a:pPr marL="342900" indent="-342900">
              <a:spcAft>
                <a:spcPts val="300"/>
              </a:spcAft>
              <a:buSzPts val="1000"/>
              <a:buFont typeface="Symbol" pitchFamily="2" charset="2"/>
              <a:buChar char=""/>
              <a:tabLst>
                <a:tab pos="457200" algn="l"/>
              </a:tabLst>
            </a:pPr>
            <a:r>
              <a:rPr lang="en-GB" sz="3200" b="1" i="0" dirty="0">
                <a:solidFill>
                  <a:srgbClr val="202124"/>
                </a:solidFill>
                <a:effectLst/>
                <a:latin typeface="arial" panose="020B0604020202020204" pitchFamily="34" charset="0"/>
              </a:rPr>
              <a:t>These systems </a:t>
            </a:r>
            <a:r>
              <a:rPr lang="en-US" sz="3200" b="1" i="0" dirty="0">
                <a:solidFill>
                  <a:srgbClr val="202124"/>
                </a:solidFill>
                <a:effectLst/>
                <a:latin typeface="arial" panose="020B0604020202020204" pitchFamily="34" charset="0"/>
              </a:rPr>
              <a:t>include  what we already discussed in the previous lesson(</a:t>
            </a:r>
            <a:r>
              <a:rPr lang="en-US" sz="3200" b="1" i="0" dirty="0" err="1">
                <a:solidFill>
                  <a:srgbClr val="202124"/>
                </a:solidFill>
                <a:effectLst/>
                <a:latin typeface="arial" panose="020B0604020202020204" pitchFamily="34" charset="0"/>
              </a:rPr>
              <a:t>i.e</a:t>
            </a:r>
            <a:r>
              <a:rPr lang="en-US" sz="3200" b="1" i="0" dirty="0">
                <a:solidFill>
                  <a:srgbClr val="202124"/>
                </a:solidFill>
                <a:effectLst/>
                <a:latin typeface="arial" panose="020B0604020202020204" pitchFamily="34" charset="0"/>
              </a:rPr>
              <a:t> Nervous System and Cardiovascular System) in addition to: </a:t>
            </a:r>
            <a:r>
              <a:rPr lang="en-KE" sz="3200" dirty="0">
                <a:solidFill>
                  <a:srgbClr val="202124"/>
                </a:solidFill>
                <a:effectLst/>
                <a:latin typeface="Arial" panose="020B0604020202020204" pitchFamily="34" charset="0"/>
                <a:ea typeface="Times New Roman" panose="02020603050405020304" pitchFamily="18" charset="0"/>
                <a:cs typeface="Times New Roman" panose="02020603050405020304" pitchFamily="18" charset="0"/>
              </a:rPr>
              <a:t>Respiratory system, Digestive system, Skeletal system (composed of bones and cartilages), Muscular system (consists of all the body muscles), Urinary system, Endocrine system and Lymphatic system.</a:t>
            </a:r>
            <a:endParaRPr lang="en-KE" sz="3200" dirty="0">
              <a:solidFill>
                <a:srgbClr val="202124"/>
              </a:solidFill>
              <a:effectLst/>
              <a:latin typeface="Calibri" panose="020F0502020204030204" pitchFamily="34" charset="0"/>
              <a:ea typeface="Calibri" panose="020F0502020204030204" pitchFamily="34" charset="0"/>
              <a:cs typeface="Times New Roman" panose="02020603050405020304" pitchFamily="18" charset="0"/>
            </a:endParaRPr>
          </a:p>
          <a:p>
            <a:r>
              <a:rPr lang="en-US" sz="3200" dirty="0"/>
              <a:t>The human body systems covered in this section include: endocrine and digestive systems. </a:t>
            </a:r>
          </a:p>
          <a:p>
            <a:endParaRPr lang="en-KE" dirty="0"/>
          </a:p>
        </p:txBody>
      </p:sp>
    </p:spTree>
    <p:extLst>
      <p:ext uri="{BB962C8B-B14F-4D97-AF65-F5344CB8AC3E}">
        <p14:creationId xmlns:p14="http://schemas.microsoft.com/office/powerpoint/2010/main" val="4230905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A8FF5-C6B1-9642-862E-29F302FC697E}"/>
              </a:ext>
            </a:extLst>
          </p:cNvPr>
          <p:cNvSpPr>
            <a:spLocks noGrp="1"/>
          </p:cNvSpPr>
          <p:nvPr>
            <p:ph type="title"/>
          </p:nvPr>
        </p:nvSpPr>
        <p:spPr/>
        <p:txBody>
          <a:bodyPr>
            <a:normAutofit fontScale="90000"/>
          </a:bodyPr>
          <a:lstStyle/>
          <a:p>
            <a:br>
              <a:rPr lang="en-US" b="1" dirty="0"/>
            </a:br>
            <a:r>
              <a:rPr lang="en-US" b="1" dirty="0"/>
              <a:t>The endocrine system</a:t>
            </a:r>
            <a:br>
              <a:rPr lang="en-KE" dirty="0"/>
            </a:br>
            <a:endParaRPr lang="en-KE" dirty="0"/>
          </a:p>
        </p:txBody>
      </p:sp>
      <p:sp>
        <p:nvSpPr>
          <p:cNvPr id="3" name="Content Placeholder 2">
            <a:extLst>
              <a:ext uri="{FF2B5EF4-FFF2-40B4-BE49-F238E27FC236}">
                <a16:creationId xmlns:a16="http://schemas.microsoft.com/office/drawing/2014/main" id="{11998072-6B2B-8D44-B2D6-FAA996ED73AD}"/>
              </a:ext>
            </a:extLst>
          </p:cNvPr>
          <p:cNvSpPr>
            <a:spLocks noGrp="1"/>
          </p:cNvSpPr>
          <p:nvPr>
            <p:ph idx="1"/>
          </p:nvPr>
        </p:nvSpPr>
        <p:spPr/>
        <p:txBody>
          <a:bodyPr>
            <a:normAutofit fontScale="25000" lnSpcReduction="20000"/>
          </a:bodyPr>
          <a:lstStyle/>
          <a:p>
            <a:r>
              <a:rPr lang="en-US" sz="14400" dirty="0"/>
              <a:t>It is a complex of glands and organs.</a:t>
            </a:r>
          </a:p>
          <a:p>
            <a:r>
              <a:rPr lang="en-US" sz="14400" dirty="0"/>
              <a:t>It uses hormones to control and coordinate your body’s metabolism, energy level, reproduction, growth and development, and response to injury, stress and mood. </a:t>
            </a:r>
          </a:p>
          <a:p>
            <a:r>
              <a:rPr lang="en-US" sz="14400" dirty="0"/>
              <a:t>The endocrine system complements the nervous system in controlling bodily activities and it is regulated by the hypothalamus and the pituitary gland.</a:t>
            </a:r>
          </a:p>
          <a:p>
            <a:pPr marL="0" indent="0">
              <a:buNone/>
            </a:pPr>
            <a:endParaRPr lang="en-KE" dirty="0"/>
          </a:p>
        </p:txBody>
      </p:sp>
    </p:spTree>
    <p:extLst>
      <p:ext uri="{BB962C8B-B14F-4D97-AF65-F5344CB8AC3E}">
        <p14:creationId xmlns:p14="http://schemas.microsoft.com/office/powerpoint/2010/main" val="4147458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794F8-3543-C04E-88DF-7A16C22BF6ED}"/>
              </a:ext>
            </a:extLst>
          </p:cNvPr>
          <p:cNvSpPr>
            <a:spLocks noGrp="1"/>
          </p:cNvSpPr>
          <p:nvPr>
            <p:ph type="title"/>
          </p:nvPr>
        </p:nvSpPr>
        <p:spPr/>
        <p:txBody>
          <a:bodyPr/>
          <a:lstStyle/>
          <a:p>
            <a:r>
              <a:rPr lang="en-GB" dirty="0"/>
              <a:t>C</a:t>
            </a:r>
            <a:r>
              <a:rPr lang="en-KE" dirty="0"/>
              <a:t>ont.</a:t>
            </a:r>
          </a:p>
        </p:txBody>
      </p:sp>
      <p:sp>
        <p:nvSpPr>
          <p:cNvPr id="3" name="Content Placeholder 2">
            <a:extLst>
              <a:ext uri="{FF2B5EF4-FFF2-40B4-BE49-F238E27FC236}">
                <a16:creationId xmlns:a16="http://schemas.microsoft.com/office/drawing/2014/main" id="{1DA76C4C-D18A-414A-A179-15FE67555A9B}"/>
              </a:ext>
            </a:extLst>
          </p:cNvPr>
          <p:cNvSpPr>
            <a:spLocks noGrp="1"/>
          </p:cNvSpPr>
          <p:nvPr>
            <p:ph idx="1"/>
          </p:nvPr>
        </p:nvSpPr>
        <p:spPr/>
        <p:txBody>
          <a:bodyPr>
            <a:normAutofit fontScale="25000" lnSpcReduction="20000"/>
          </a:bodyPr>
          <a:lstStyle/>
          <a:p>
            <a:r>
              <a:rPr lang="en-US" sz="12800" dirty="0"/>
              <a:t>It is made up of ductless glands which secrete hormones into the blood stimulating changes in target organs. </a:t>
            </a:r>
          </a:p>
          <a:p>
            <a:r>
              <a:rPr lang="en-GB" sz="12800" dirty="0"/>
              <a:t>These hormones travel to other organs and tissues to regulate the body’s functions. </a:t>
            </a:r>
          </a:p>
          <a:p>
            <a:r>
              <a:rPr lang="en-GB" sz="12800" dirty="0"/>
              <a:t>Endocrine system influences growth and development, mood, sexual function, reproduction, and metabolism. </a:t>
            </a:r>
          </a:p>
          <a:p>
            <a:r>
              <a:rPr lang="en-US" sz="12800" dirty="0"/>
              <a:t>The endocrine and nervous systems depend on each other in stimulating and inhibiting each others activities. Therefore w</a:t>
            </a:r>
            <a:r>
              <a:rPr lang="en-GB" sz="12800" dirty="0"/>
              <a:t>hen something goes wrong with endocrine system, the whole body suffers. </a:t>
            </a:r>
            <a:endParaRPr lang="en-US" sz="12800" dirty="0"/>
          </a:p>
          <a:p>
            <a:pPr marL="0" indent="0">
              <a:buNone/>
            </a:pPr>
            <a:endParaRPr lang="en-US" sz="11100" dirty="0"/>
          </a:p>
          <a:p>
            <a:endParaRPr lang="en-KE" dirty="0"/>
          </a:p>
        </p:txBody>
      </p:sp>
    </p:spTree>
    <p:extLst>
      <p:ext uri="{BB962C8B-B14F-4D97-AF65-F5344CB8AC3E}">
        <p14:creationId xmlns:p14="http://schemas.microsoft.com/office/powerpoint/2010/main" val="38774040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CC46E-CDE3-F84A-B4EC-41BDD1921491}"/>
              </a:ext>
            </a:extLst>
          </p:cNvPr>
          <p:cNvSpPr>
            <a:spLocks noGrp="1"/>
          </p:cNvSpPr>
          <p:nvPr>
            <p:ph type="title"/>
          </p:nvPr>
        </p:nvSpPr>
        <p:spPr/>
        <p:txBody>
          <a:bodyPr>
            <a:normAutofit/>
          </a:bodyPr>
          <a:lstStyle/>
          <a:p>
            <a:r>
              <a:rPr lang="en-GB" b="1" dirty="0"/>
              <a:t>Endocrine disorders</a:t>
            </a:r>
            <a:endParaRPr lang="en-KE" b="1" dirty="0"/>
          </a:p>
        </p:txBody>
      </p:sp>
      <p:sp>
        <p:nvSpPr>
          <p:cNvPr id="3" name="Content Placeholder 2">
            <a:extLst>
              <a:ext uri="{FF2B5EF4-FFF2-40B4-BE49-F238E27FC236}">
                <a16:creationId xmlns:a16="http://schemas.microsoft.com/office/drawing/2014/main" id="{F03EE2A9-1801-F640-A15F-7D0346688365}"/>
              </a:ext>
            </a:extLst>
          </p:cNvPr>
          <p:cNvSpPr>
            <a:spLocks noGrp="1"/>
          </p:cNvSpPr>
          <p:nvPr>
            <p:ph idx="1"/>
          </p:nvPr>
        </p:nvSpPr>
        <p:spPr>
          <a:xfrm>
            <a:off x="449894" y="1690688"/>
            <a:ext cx="10515600" cy="4351338"/>
          </a:xfrm>
        </p:spPr>
        <p:txBody>
          <a:bodyPr>
            <a:normAutofit fontScale="25000" lnSpcReduction="20000"/>
          </a:bodyPr>
          <a:lstStyle/>
          <a:p>
            <a:r>
              <a:rPr lang="en-GB" sz="12800" dirty="0"/>
              <a:t>We will explore five common endocrine disorders and how they can affect an individual</a:t>
            </a:r>
          </a:p>
          <a:p>
            <a:pPr marL="0" indent="0">
              <a:buNone/>
            </a:pPr>
            <a:r>
              <a:rPr lang="en-GB" sz="12800" b="1" dirty="0"/>
              <a:t>1. Diabetes</a:t>
            </a:r>
            <a:r>
              <a:rPr lang="en-GB" sz="12800" dirty="0"/>
              <a:t> is the most common endocrine disorder. In the United States, more than 29 million people have diabetes, but one-third are unaware that they have it. </a:t>
            </a:r>
          </a:p>
          <a:p>
            <a:r>
              <a:rPr lang="en-GB" sz="12800" dirty="0"/>
              <a:t>The pancreas is the endocrine gland responsible for making the hormone insulin and insulin helps your body’s cells take in glucose for energy. </a:t>
            </a:r>
          </a:p>
          <a:p>
            <a:r>
              <a:rPr lang="en-GB" sz="12800" dirty="0"/>
              <a:t>When someone has diabetes, it means that his/her pancreas is not able to make enough insulin.</a:t>
            </a:r>
          </a:p>
          <a:p>
            <a:r>
              <a:rPr lang="en-GB" sz="12800" dirty="0"/>
              <a:t> As a result, glucose stays in the blood instead of helping the cells.</a:t>
            </a:r>
            <a:br>
              <a:rPr lang="en-GB" sz="12800" dirty="0"/>
            </a:br>
            <a:endParaRPr lang="en-GB" sz="12800" dirty="0"/>
          </a:p>
          <a:p>
            <a:endParaRPr lang="en-KE" dirty="0"/>
          </a:p>
        </p:txBody>
      </p:sp>
    </p:spTree>
    <p:extLst>
      <p:ext uri="{BB962C8B-B14F-4D97-AF65-F5344CB8AC3E}">
        <p14:creationId xmlns:p14="http://schemas.microsoft.com/office/powerpoint/2010/main" val="818540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E5342-303F-374E-9A5D-98BFDBD00C60}"/>
              </a:ext>
            </a:extLst>
          </p:cNvPr>
          <p:cNvSpPr>
            <a:spLocks noGrp="1"/>
          </p:cNvSpPr>
          <p:nvPr>
            <p:ph type="title"/>
          </p:nvPr>
        </p:nvSpPr>
        <p:spPr/>
        <p:txBody>
          <a:bodyPr>
            <a:normAutofit fontScale="90000"/>
          </a:bodyPr>
          <a:lstStyle/>
          <a:p>
            <a:br>
              <a:rPr lang="en-GB" dirty="0"/>
            </a:br>
            <a:r>
              <a:rPr lang="en-GB" dirty="0"/>
              <a:t>2. Thyroid Disorders</a:t>
            </a:r>
            <a:br>
              <a:rPr lang="en-GB" dirty="0"/>
            </a:br>
            <a:endParaRPr lang="en-KE" dirty="0"/>
          </a:p>
        </p:txBody>
      </p:sp>
      <p:sp>
        <p:nvSpPr>
          <p:cNvPr id="3" name="Content Placeholder 2">
            <a:extLst>
              <a:ext uri="{FF2B5EF4-FFF2-40B4-BE49-F238E27FC236}">
                <a16:creationId xmlns:a16="http://schemas.microsoft.com/office/drawing/2014/main" id="{2D95EA68-0A99-184C-A985-D3A33D4D14DB}"/>
              </a:ext>
            </a:extLst>
          </p:cNvPr>
          <p:cNvSpPr>
            <a:spLocks noGrp="1"/>
          </p:cNvSpPr>
          <p:nvPr>
            <p:ph idx="1"/>
          </p:nvPr>
        </p:nvSpPr>
        <p:spPr/>
        <p:txBody>
          <a:bodyPr>
            <a:normAutofit fontScale="25000" lnSpcReduction="20000"/>
          </a:bodyPr>
          <a:lstStyle/>
          <a:p>
            <a:r>
              <a:rPr lang="en-GB" sz="11100" dirty="0"/>
              <a:t>Thyroid disorders follow closely behind diabetes in the United States. </a:t>
            </a:r>
          </a:p>
          <a:p>
            <a:r>
              <a:rPr lang="en-GB" sz="11100" dirty="0"/>
              <a:t>About 20 million Americans have some type of thyroid disorder. </a:t>
            </a:r>
          </a:p>
          <a:p>
            <a:r>
              <a:rPr lang="en-GB" sz="11100" dirty="0"/>
              <a:t>Your thyroid gland makes hormones that tell your body’s systems how fast to work. </a:t>
            </a:r>
          </a:p>
          <a:p>
            <a:r>
              <a:rPr lang="en-GB" sz="11100" dirty="0"/>
              <a:t>When you have too much thyroid hormone, your systems work in overdrive. </a:t>
            </a:r>
          </a:p>
          <a:p>
            <a:r>
              <a:rPr lang="en-GB" sz="11100" dirty="0"/>
              <a:t>When you have too little, your body becomes sluggish. </a:t>
            </a:r>
          </a:p>
          <a:p>
            <a:r>
              <a:rPr lang="en-GB" sz="11100" dirty="0"/>
              <a:t>Research has shown that women are more likely than men to suffer from thyroid disorders.</a:t>
            </a:r>
          </a:p>
          <a:p>
            <a:r>
              <a:rPr lang="en-GB" sz="11100" dirty="0"/>
              <a:t> Research has also found that cases of low thyroid hormone levels, referred to as </a:t>
            </a:r>
            <a:r>
              <a:rPr lang="en-GB" sz="11100" b="1" dirty="0"/>
              <a:t>hypothyroidism are </a:t>
            </a:r>
            <a:r>
              <a:rPr lang="en-GB" sz="11100" dirty="0"/>
              <a:t>more common than cases of high thyroid hormone levels referred to as </a:t>
            </a:r>
            <a:r>
              <a:rPr lang="en-GB" sz="11100" b="1" dirty="0"/>
              <a:t>hyperthyroidism</a:t>
            </a:r>
            <a:r>
              <a:rPr lang="en-GB" sz="11100" dirty="0"/>
              <a:t>. Treatment involves balancing of hormones. </a:t>
            </a:r>
            <a:br>
              <a:rPr lang="en-GB" sz="6500" dirty="0"/>
            </a:br>
            <a:endParaRPr lang="en-GB" sz="6500" dirty="0"/>
          </a:p>
          <a:p>
            <a:endParaRPr lang="en-KE" dirty="0"/>
          </a:p>
        </p:txBody>
      </p:sp>
    </p:spTree>
    <p:extLst>
      <p:ext uri="{BB962C8B-B14F-4D97-AF65-F5344CB8AC3E}">
        <p14:creationId xmlns:p14="http://schemas.microsoft.com/office/powerpoint/2010/main" val="4030140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8E6AF-426C-474F-A9CA-470F4840F807}"/>
              </a:ext>
            </a:extLst>
          </p:cNvPr>
          <p:cNvSpPr>
            <a:spLocks noGrp="1"/>
          </p:cNvSpPr>
          <p:nvPr>
            <p:ph type="title"/>
          </p:nvPr>
        </p:nvSpPr>
        <p:spPr/>
        <p:txBody>
          <a:bodyPr>
            <a:normAutofit fontScale="90000"/>
          </a:bodyPr>
          <a:lstStyle/>
          <a:p>
            <a:br>
              <a:rPr lang="en-GB" dirty="0"/>
            </a:br>
            <a:r>
              <a:rPr lang="en-GB" dirty="0"/>
              <a:t>3. Polycystic Ovary Syndrome (PCOS)</a:t>
            </a:r>
            <a:br>
              <a:rPr lang="en-GB" dirty="0"/>
            </a:br>
            <a:endParaRPr lang="en-KE" dirty="0"/>
          </a:p>
        </p:txBody>
      </p:sp>
      <p:sp>
        <p:nvSpPr>
          <p:cNvPr id="3" name="Content Placeholder 2">
            <a:extLst>
              <a:ext uri="{FF2B5EF4-FFF2-40B4-BE49-F238E27FC236}">
                <a16:creationId xmlns:a16="http://schemas.microsoft.com/office/drawing/2014/main" id="{C4E864B9-7177-A742-B1A4-4A88DC440B21}"/>
              </a:ext>
            </a:extLst>
          </p:cNvPr>
          <p:cNvSpPr>
            <a:spLocks noGrp="1"/>
          </p:cNvSpPr>
          <p:nvPr>
            <p:ph idx="1"/>
          </p:nvPr>
        </p:nvSpPr>
        <p:spPr/>
        <p:txBody>
          <a:bodyPr>
            <a:normAutofit lnSpcReduction="10000"/>
          </a:bodyPr>
          <a:lstStyle/>
          <a:p>
            <a:r>
              <a:rPr lang="en-GB" b="1" dirty="0"/>
              <a:t>Polycystic ovary syndrome </a:t>
            </a:r>
            <a:r>
              <a:rPr lang="en-GB" dirty="0"/>
              <a:t>(PCOS) mainly affects women and research shows that approximately five million women in the United States suffer from this disorder. </a:t>
            </a:r>
          </a:p>
          <a:p>
            <a:r>
              <a:rPr lang="en-GB" dirty="0"/>
              <a:t>Women with PCOS can have enlarged ovaries containing many small cysts which interferes with regular menstruation and fertility. </a:t>
            </a:r>
          </a:p>
          <a:p>
            <a:r>
              <a:rPr lang="en-GB" dirty="0"/>
              <a:t>PCOS can also cause high levels of androgens (male hormones).</a:t>
            </a:r>
          </a:p>
          <a:p>
            <a:r>
              <a:rPr lang="en-GB" dirty="0"/>
              <a:t> Excess androgens can bring about hair growth, weight gain and acne. </a:t>
            </a:r>
          </a:p>
          <a:p>
            <a:r>
              <a:rPr lang="en-GB" dirty="0"/>
              <a:t>Like other endocrine disorders, treatment involves balancing hormones.</a:t>
            </a:r>
            <a:br>
              <a:rPr lang="en-GB" dirty="0"/>
            </a:br>
            <a:endParaRPr lang="en-GB" dirty="0"/>
          </a:p>
          <a:p>
            <a:endParaRPr lang="en-KE" dirty="0"/>
          </a:p>
        </p:txBody>
      </p:sp>
    </p:spTree>
    <p:extLst>
      <p:ext uri="{BB962C8B-B14F-4D97-AF65-F5344CB8AC3E}">
        <p14:creationId xmlns:p14="http://schemas.microsoft.com/office/powerpoint/2010/main" val="991703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4AA0C-01AF-AC4A-8392-ABF0D1142F4A}"/>
              </a:ext>
            </a:extLst>
          </p:cNvPr>
          <p:cNvSpPr>
            <a:spLocks noGrp="1"/>
          </p:cNvSpPr>
          <p:nvPr>
            <p:ph type="title"/>
          </p:nvPr>
        </p:nvSpPr>
        <p:spPr/>
        <p:txBody>
          <a:bodyPr>
            <a:normAutofit fontScale="90000"/>
          </a:bodyPr>
          <a:lstStyle/>
          <a:p>
            <a:br>
              <a:rPr lang="en-GB" dirty="0"/>
            </a:br>
            <a:r>
              <a:rPr lang="en-GB" dirty="0"/>
              <a:t>4. Low Testosterone</a:t>
            </a:r>
            <a:br>
              <a:rPr lang="en-GB" dirty="0"/>
            </a:br>
            <a:endParaRPr lang="en-KE" dirty="0"/>
          </a:p>
        </p:txBody>
      </p:sp>
      <p:sp>
        <p:nvSpPr>
          <p:cNvPr id="3" name="Content Placeholder 2">
            <a:extLst>
              <a:ext uri="{FF2B5EF4-FFF2-40B4-BE49-F238E27FC236}">
                <a16:creationId xmlns:a16="http://schemas.microsoft.com/office/drawing/2014/main" id="{29DCB7C8-7B33-2241-B5EC-0A503C437D08}"/>
              </a:ext>
            </a:extLst>
          </p:cNvPr>
          <p:cNvSpPr>
            <a:spLocks noGrp="1"/>
          </p:cNvSpPr>
          <p:nvPr>
            <p:ph idx="1"/>
          </p:nvPr>
        </p:nvSpPr>
        <p:spPr/>
        <p:txBody>
          <a:bodyPr>
            <a:normAutofit fontScale="92500" lnSpcReduction="10000"/>
          </a:bodyPr>
          <a:lstStyle/>
          <a:p>
            <a:r>
              <a:rPr lang="en-GB" sz="3200" dirty="0"/>
              <a:t>Hypogonadism is the medical term for low testosterone. </a:t>
            </a:r>
          </a:p>
          <a:p>
            <a:r>
              <a:rPr lang="en-GB" sz="3200" dirty="0"/>
              <a:t>It’s difficult to determine exactly how many men have low testosterone based on studies published so far. </a:t>
            </a:r>
          </a:p>
          <a:p>
            <a:r>
              <a:rPr lang="en-GB" sz="3200" dirty="0"/>
              <a:t>Most estimates put it in millions, with older men being more likely to have it. </a:t>
            </a:r>
          </a:p>
          <a:p>
            <a:r>
              <a:rPr lang="en-GB" sz="3200" dirty="0"/>
              <a:t>Men with low testosterone suffer from decreased sexual desire, erectile dysfunction , shrinking testes, and hair loss. They may also have less energy, depression, muscle weakness and sleep problems.</a:t>
            </a:r>
            <a:br>
              <a:rPr lang="en-GB" sz="3200" dirty="0"/>
            </a:br>
            <a:endParaRPr lang="en-GB" sz="3200" dirty="0"/>
          </a:p>
          <a:p>
            <a:endParaRPr lang="en-KE" dirty="0"/>
          </a:p>
        </p:txBody>
      </p:sp>
    </p:spTree>
    <p:extLst>
      <p:ext uri="{BB962C8B-B14F-4D97-AF65-F5344CB8AC3E}">
        <p14:creationId xmlns:p14="http://schemas.microsoft.com/office/powerpoint/2010/main" val="1279731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D72A7-25EF-8C43-9B0A-749045E2E1B1}"/>
              </a:ext>
            </a:extLst>
          </p:cNvPr>
          <p:cNvSpPr>
            <a:spLocks noGrp="1"/>
          </p:cNvSpPr>
          <p:nvPr>
            <p:ph type="title"/>
          </p:nvPr>
        </p:nvSpPr>
        <p:spPr/>
        <p:txBody>
          <a:bodyPr>
            <a:normAutofit fontScale="90000"/>
          </a:bodyPr>
          <a:lstStyle/>
          <a:p>
            <a:br>
              <a:rPr lang="en-GB" dirty="0"/>
            </a:br>
            <a:r>
              <a:rPr lang="en-GB" dirty="0"/>
              <a:t>5. Osteoporosis</a:t>
            </a:r>
            <a:br>
              <a:rPr lang="en-GB" dirty="0"/>
            </a:br>
            <a:endParaRPr lang="en-KE" dirty="0"/>
          </a:p>
        </p:txBody>
      </p:sp>
      <p:sp>
        <p:nvSpPr>
          <p:cNvPr id="3" name="Content Placeholder 2">
            <a:extLst>
              <a:ext uri="{FF2B5EF4-FFF2-40B4-BE49-F238E27FC236}">
                <a16:creationId xmlns:a16="http://schemas.microsoft.com/office/drawing/2014/main" id="{96A214E4-D24D-074B-AD26-6C0946F80C80}"/>
              </a:ext>
            </a:extLst>
          </p:cNvPr>
          <p:cNvSpPr>
            <a:spLocks noGrp="1"/>
          </p:cNvSpPr>
          <p:nvPr>
            <p:ph idx="1"/>
          </p:nvPr>
        </p:nvSpPr>
        <p:spPr/>
        <p:txBody>
          <a:bodyPr>
            <a:normAutofit lnSpcReduction="10000"/>
          </a:bodyPr>
          <a:lstStyle/>
          <a:p>
            <a:r>
              <a:rPr lang="en-GB" dirty="0"/>
              <a:t>Osteoporosis is thinning of the bones and loss of bone mass. This disorder is more common in women than men thus; women are at higher risk of developing it than men. </a:t>
            </a:r>
          </a:p>
          <a:p>
            <a:r>
              <a:rPr lang="en-GB" dirty="0"/>
              <a:t>The risk increases with age, as oestrogen levels decline. However, there are other endocrine disorders which can contribute to osteoporosis. These include high levels of thyroid hormone, parathyroid hormone, and cortisol. </a:t>
            </a:r>
          </a:p>
          <a:p>
            <a:r>
              <a:rPr lang="en-GB" dirty="0"/>
              <a:t>These conditions disrupt the normal balance of bone rebuilding and re-modelling. </a:t>
            </a:r>
          </a:p>
          <a:p>
            <a:r>
              <a:rPr lang="en-GB" dirty="0"/>
              <a:t>In men, low testosterone levels can increase the likelihood of developing osteoporosis.</a:t>
            </a:r>
            <a:endParaRPr lang="en-KE" dirty="0"/>
          </a:p>
        </p:txBody>
      </p:sp>
    </p:spTree>
    <p:extLst>
      <p:ext uri="{BB962C8B-B14F-4D97-AF65-F5344CB8AC3E}">
        <p14:creationId xmlns:p14="http://schemas.microsoft.com/office/powerpoint/2010/main" val="2111976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19D01-2FF0-934A-8B4C-1D825A1E866C}"/>
              </a:ext>
            </a:extLst>
          </p:cNvPr>
          <p:cNvSpPr>
            <a:spLocks noGrp="1"/>
          </p:cNvSpPr>
          <p:nvPr>
            <p:ph type="title"/>
          </p:nvPr>
        </p:nvSpPr>
        <p:spPr/>
        <p:txBody>
          <a:bodyPr>
            <a:normAutofit fontScale="90000"/>
          </a:bodyPr>
          <a:lstStyle/>
          <a:p>
            <a:br>
              <a:rPr lang="en-US" b="1" dirty="0"/>
            </a:br>
            <a:r>
              <a:rPr lang="en-US" b="1" dirty="0"/>
              <a:t>The Digestive System</a:t>
            </a:r>
            <a:br>
              <a:rPr lang="en-KE" dirty="0"/>
            </a:br>
            <a:endParaRPr lang="en-KE" dirty="0"/>
          </a:p>
        </p:txBody>
      </p:sp>
      <p:sp>
        <p:nvSpPr>
          <p:cNvPr id="3" name="Content Placeholder 2">
            <a:extLst>
              <a:ext uri="{FF2B5EF4-FFF2-40B4-BE49-F238E27FC236}">
                <a16:creationId xmlns:a16="http://schemas.microsoft.com/office/drawing/2014/main" id="{46C7ECE7-DB19-974C-AC6B-0A9A4D7F0F40}"/>
              </a:ext>
            </a:extLst>
          </p:cNvPr>
          <p:cNvSpPr>
            <a:spLocks noGrp="1"/>
          </p:cNvSpPr>
          <p:nvPr>
            <p:ph idx="1"/>
          </p:nvPr>
        </p:nvSpPr>
        <p:spPr/>
        <p:txBody>
          <a:bodyPr>
            <a:normAutofit/>
          </a:bodyPr>
          <a:lstStyle/>
          <a:p>
            <a:r>
              <a:rPr lang="en-GB" b="1" dirty="0"/>
              <a:t>Digestive system </a:t>
            </a:r>
            <a:r>
              <a:rPr lang="en-GB" dirty="0"/>
              <a:t>refers to the system of organs responsible for getting food into and out of the body and for making use of food to keep it healthy. </a:t>
            </a:r>
          </a:p>
          <a:p>
            <a:r>
              <a:rPr lang="en-GB" dirty="0"/>
              <a:t>The </a:t>
            </a:r>
            <a:r>
              <a:rPr lang="en-GB" b="1" dirty="0"/>
              <a:t>digestive system</a:t>
            </a:r>
            <a:r>
              <a:rPr lang="en-GB" dirty="0"/>
              <a:t> includes the salivary glands, mouth, </a:t>
            </a:r>
            <a:r>
              <a:rPr lang="en-GB" dirty="0" err="1"/>
              <a:t>esophagus</a:t>
            </a:r>
            <a:r>
              <a:rPr lang="en-GB" dirty="0"/>
              <a:t>, </a:t>
            </a:r>
            <a:r>
              <a:rPr lang="en-GB" b="1" dirty="0"/>
              <a:t>stomach</a:t>
            </a:r>
            <a:r>
              <a:rPr lang="en-GB" dirty="0"/>
              <a:t>, liver, gallbladder, pancreas, small intestine, colon, and rectum.</a:t>
            </a:r>
          </a:p>
          <a:p>
            <a:r>
              <a:rPr lang="en-GB" dirty="0"/>
              <a:t>`The human digestive system consists of the gastrointestinal tract plus the accessory organs of digestion. </a:t>
            </a:r>
          </a:p>
          <a:p>
            <a:r>
              <a:rPr lang="en-GB" dirty="0"/>
              <a:t>Digestion involves the breakdown of food into smaller components, until it can be absorbed and assimilated into the body.</a:t>
            </a:r>
            <a:endParaRPr lang="en-US" dirty="0"/>
          </a:p>
          <a:p>
            <a:pPr marL="0" indent="0">
              <a:buNone/>
            </a:pPr>
            <a:endParaRPr lang="en-US" dirty="0"/>
          </a:p>
          <a:p>
            <a:endParaRPr lang="en-US" dirty="0"/>
          </a:p>
        </p:txBody>
      </p:sp>
    </p:spTree>
    <p:extLst>
      <p:ext uri="{BB962C8B-B14F-4D97-AF65-F5344CB8AC3E}">
        <p14:creationId xmlns:p14="http://schemas.microsoft.com/office/powerpoint/2010/main" val="3004501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DE61E-021D-4447-ACC9-3851498557D9}"/>
              </a:ext>
            </a:extLst>
          </p:cNvPr>
          <p:cNvSpPr>
            <a:spLocks noGrp="1"/>
          </p:cNvSpPr>
          <p:nvPr>
            <p:ph type="title"/>
          </p:nvPr>
        </p:nvSpPr>
        <p:spPr/>
        <p:txBody>
          <a:bodyPr/>
          <a:lstStyle/>
          <a:p>
            <a:r>
              <a:rPr lang="en-GB" dirty="0"/>
              <a:t>C</a:t>
            </a:r>
            <a:r>
              <a:rPr lang="en-KE" dirty="0"/>
              <a:t>ont. </a:t>
            </a:r>
          </a:p>
        </p:txBody>
      </p:sp>
      <p:sp>
        <p:nvSpPr>
          <p:cNvPr id="3" name="Content Placeholder 2">
            <a:extLst>
              <a:ext uri="{FF2B5EF4-FFF2-40B4-BE49-F238E27FC236}">
                <a16:creationId xmlns:a16="http://schemas.microsoft.com/office/drawing/2014/main" id="{18873F54-6C27-E046-886F-2BCFCF61FEC4}"/>
              </a:ext>
            </a:extLst>
          </p:cNvPr>
          <p:cNvSpPr>
            <a:spLocks noGrp="1"/>
          </p:cNvSpPr>
          <p:nvPr>
            <p:ph idx="1"/>
          </p:nvPr>
        </p:nvSpPr>
        <p:spPr/>
        <p:txBody>
          <a:bodyPr>
            <a:normAutofit/>
          </a:bodyPr>
          <a:lstStyle/>
          <a:p>
            <a:r>
              <a:rPr lang="en-GB" b="1" dirty="0"/>
              <a:t>The process of digestion has three stages</a:t>
            </a:r>
            <a:r>
              <a:rPr lang="en-GB" dirty="0"/>
              <a:t>: </a:t>
            </a:r>
          </a:p>
          <a:p>
            <a:pPr marL="571500" indent="-571500">
              <a:buAutoNum type="romanLcParenR"/>
            </a:pPr>
            <a:r>
              <a:rPr lang="en-GB" dirty="0"/>
              <a:t>The cephalic phase </a:t>
            </a:r>
          </a:p>
          <a:p>
            <a:pPr marL="571500" indent="-571500">
              <a:buAutoNum type="romanLcParenR"/>
            </a:pPr>
            <a:r>
              <a:rPr lang="en-GB" dirty="0"/>
              <a:t>The gastric phase and </a:t>
            </a:r>
          </a:p>
          <a:p>
            <a:pPr marL="0" indent="0">
              <a:buNone/>
            </a:pPr>
            <a:r>
              <a:rPr lang="en-GB" dirty="0"/>
              <a:t>iii) The intestinal phase </a:t>
            </a:r>
          </a:p>
          <a:p>
            <a:r>
              <a:rPr lang="en-GB" b="1" dirty="0"/>
              <a:t>Cephalic phase </a:t>
            </a:r>
            <a:r>
              <a:rPr lang="en-GB" dirty="0"/>
              <a:t>the first stage of digestion which begins with gastric secretions in response to the sight and smell of food. </a:t>
            </a:r>
          </a:p>
          <a:p>
            <a:r>
              <a:rPr lang="en-GB" dirty="0"/>
              <a:t>This stage includes the mechanical breakdown of food by chewing and the chemical breakdown by digestive enzymes, that takes place in the mouth.</a:t>
            </a:r>
          </a:p>
          <a:p>
            <a:endParaRPr lang="en-KE" dirty="0"/>
          </a:p>
        </p:txBody>
      </p:sp>
    </p:spTree>
    <p:extLst>
      <p:ext uri="{BB962C8B-B14F-4D97-AF65-F5344CB8AC3E}">
        <p14:creationId xmlns:p14="http://schemas.microsoft.com/office/powerpoint/2010/main" val="30099024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4FA2A-7970-E342-BDF8-A44F46D29626}"/>
              </a:ext>
            </a:extLst>
          </p:cNvPr>
          <p:cNvSpPr>
            <a:spLocks noGrp="1"/>
          </p:cNvSpPr>
          <p:nvPr>
            <p:ph type="title"/>
          </p:nvPr>
        </p:nvSpPr>
        <p:spPr/>
        <p:txBody>
          <a:bodyPr/>
          <a:lstStyle/>
          <a:p>
            <a:r>
              <a:rPr lang="en-GB" dirty="0"/>
              <a:t>C</a:t>
            </a:r>
            <a:r>
              <a:rPr lang="en-KE" dirty="0"/>
              <a:t>ont. </a:t>
            </a:r>
          </a:p>
        </p:txBody>
      </p:sp>
      <p:sp>
        <p:nvSpPr>
          <p:cNvPr id="3" name="Content Placeholder 2">
            <a:extLst>
              <a:ext uri="{FF2B5EF4-FFF2-40B4-BE49-F238E27FC236}">
                <a16:creationId xmlns:a16="http://schemas.microsoft.com/office/drawing/2014/main" id="{B1ABAB2E-E9D9-764C-B6B3-83AC501A8422}"/>
              </a:ext>
            </a:extLst>
          </p:cNvPr>
          <p:cNvSpPr>
            <a:spLocks noGrp="1"/>
          </p:cNvSpPr>
          <p:nvPr>
            <p:ph idx="1"/>
          </p:nvPr>
        </p:nvSpPr>
        <p:spPr/>
        <p:txBody>
          <a:bodyPr>
            <a:normAutofit/>
          </a:bodyPr>
          <a:lstStyle/>
          <a:p>
            <a:r>
              <a:rPr lang="en-GB" sz="3200" dirty="0"/>
              <a:t>Saliva contains digestive enzymes  called amylase, and </a:t>
            </a:r>
            <a:r>
              <a:rPr lang="en-GB" sz="3200" dirty="0" err="1"/>
              <a:t>linqua</a:t>
            </a:r>
            <a:r>
              <a:rPr lang="en-GB" sz="3200" dirty="0"/>
              <a:t> lipase, secreted by the salivary glands  and serous glands on the tongue. </a:t>
            </a:r>
          </a:p>
          <a:p>
            <a:r>
              <a:rPr lang="en-GB" sz="3200" dirty="0"/>
              <a:t>The enzymes start to break down the food in the mouth. </a:t>
            </a:r>
          </a:p>
          <a:p>
            <a:r>
              <a:rPr lang="en-GB" sz="3200" dirty="0"/>
              <a:t>Chewing, in which the food is mixed with saliva, begins the mechanical process of digestion. </a:t>
            </a:r>
          </a:p>
          <a:p>
            <a:r>
              <a:rPr lang="en-GB" sz="3200" dirty="0"/>
              <a:t>This produces a bolus which can be swallowed down the oesophagus to enter the stomach. </a:t>
            </a:r>
          </a:p>
        </p:txBody>
      </p:sp>
    </p:spTree>
    <p:extLst>
      <p:ext uri="{BB962C8B-B14F-4D97-AF65-F5344CB8AC3E}">
        <p14:creationId xmlns:p14="http://schemas.microsoft.com/office/powerpoint/2010/main" val="3299011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0FF2C-815C-5244-8EEF-647191B5DBB4}"/>
              </a:ext>
            </a:extLst>
          </p:cNvPr>
          <p:cNvSpPr>
            <a:spLocks noGrp="1"/>
          </p:cNvSpPr>
          <p:nvPr>
            <p:ph type="title"/>
          </p:nvPr>
        </p:nvSpPr>
        <p:spPr/>
        <p:txBody>
          <a:bodyPr/>
          <a:lstStyle/>
          <a:p>
            <a:r>
              <a:rPr lang="en-GB" b="1" dirty="0"/>
              <a:t>2</a:t>
            </a:r>
            <a:r>
              <a:rPr lang="en-GB" b="1" baseline="30000" dirty="0"/>
              <a:t>nd</a:t>
            </a:r>
            <a:r>
              <a:rPr lang="en-GB" b="1" dirty="0"/>
              <a:t> the </a:t>
            </a:r>
            <a:r>
              <a:rPr lang="en-GB" b="1" dirty="0">
                <a:hlinkClick r:id="rId2" tooltip="Regulation of gastric function">
                  <a:extLst>
                    <a:ext uri="{A12FA001-AC4F-418D-AE19-62706E023703}">
                      <ahyp:hlinkClr xmlns:ahyp="http://schemas.microsoft.com/office/drawing/2018/hyperlinkcolor" val="tx"/>
                    </a:ext>
                  </a:extLst>
                </a:hlinkClick>
              </a:rPr>
              <a:t>gastric phase</a:t>
            </a:r>
            <a:endParaRPr lang="en-KE" b="1" dirty="0"/>
          </a:p>
        </p:txBody>
      </p:sp>
      <p:sp>
        <p:nvSpPr>
          <p:cNvPr id="3" name="Content Placeholder 2">
            <a:extLst>
              <a:ext uri="{FF2B5EF4-FFF2-40B4-BE49-F238E27FC236}">
                <a16:creationId xmlns:a16="http://schemas.microsoft.com/office/drawing/2014/main" id="{65A3E558-1DC0-FD48-A128-277D3215960E}"/>
              </a:ext>
            </a:extLst>
          </p:cNvPr>
          <p:cNvSpPr>
            <a:spLocks noGrp="1"/>
          </p:cNvSpPr>
          <p:nvPr>
            <p:ph idx="1"/>
          </p:nvPr>
        </p:nvSpPr>
        <p:spPr/>
        <p:txBody>
          <a:bodyPr>
            <a:normAutofit/>
          </a:bodyPr>
          <a:lstStyle/>
          <a:p>
            <a:r>
              <a:rPr lang="en-GB" sz="3200" dirty="0"/>
              <a:t>The </a:t>
            </a:r>
            <a:r>
              <a:rPr lang="en-GB" sz="3200" b="1" dirty="0"/>
              <a:t>second stage </a:t>
            </a:r>
            <a:r>
              <a:rPr lang="en-GB" sz="3200" dirty="0"/>
              <a:t>of digestion then begins in the stomach with the gastric phase of digestion. </a:t>
            </a:r>
          </a:p>
          <a:p>
            <a:r>
              <a:rPr lang="en-GB" sz="3200" dirty="0"/>
              <a:t>Here the food is further broken down by mixing with gastric acid until it passes into the duodenum the first part of the small intestine.</a:t>
            </a:r>
            <a:endParaRPr lang="en-KE" sz="3200" dirty="0"/>
          </a:p>
          <a:p>
            <a:r>
              <a:rPr lang="en-GB" sz="3200" dirty="0"/>
              <a:t>The </a:t>
            </a:r>
            <a:r>
              <a:rPr lang="en-GB" sz="3200" b="1" dirty="0"/>
              <a:t>third stage is </a:t>
            </a:r>
            <a:r>
              <a:rPr lang="en-GB" sz="3200" dirty="0"/>
              <a:t>the (3</a:t>
            </a:r>
            <a:r>
              <a:rPr lang="en-GB" sz="3200" baseline="30000" dirty="0"/>
              <a:t>rd</a:t>
            </a:r>
            <a:r>
              <a:rPr lang="en-GB" sz="3200" dirty="0"/>
              <a:t>) </a:t>
            </a:r>
            <a:r>
              <a:rPr lang="en-GB" sz="3200" b="1" dirty="0"/>
              <a:t>intestinal phase </a:t>
            </a:r>
            <a:r>
              <a:rPr lang="en-GB" sz="3200" dirty="0"/>
              <a:t>of digestion which begins in the duodenum, where partially digested food is mixed with a number of enzymes produced by the pancreas. </a:t>
            </a:r>
          </a:p>
        </p:txBody>
      </p:sp>
    </p:spTree>
    <p:extLst>
      <p:ext uri="{BB962C8B-B14F-4D97-AF65-F5344CB8AC3E}">
        <p14:creationId xmlns:p14="http://schemas.microsoft.com/office/powerpoint/2010/main" val="11711101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0CAC1-5DC6-554E-A444-D99242EFE645}"/>
              </a:ext>
            </a:extLst>
          </p:cNvPr>
          <p:cNvSpPr>
            <a:spLocks noGrp="1"/>
          </p:cNvSpPr>
          <p:nvPr>
            <p:ph type="title"/>
          </p:nvPr>
        </p:nvSpPr>
        <p:spPr/>
        <p:txBody>
          <a:bodyPr/>
          <a:lstStyle/>
          <a:p>
            <a:r>
              <a:rPr lang="en-GB" dirty="0"/>
              <a:t>C</a:t>
            </a:r>
            <a:r>
              <a:rPr lang="en-KE" dirty="0"/>
              <a:t>ont.</a:t>
            </a:r>
          </a:p>
        </p:txBody>
      </p:sp>
      <p:sp>
        <p:nvSpPr>
          <p:cNvPr id="3" name="Content Placeholder 2">
            <a:extLst>
              <a:ext uri="{FF2B5EF4-FFF2-40B4-BE49-F238E27FC236}">
                <a16:creationId xmlns:a16="http://schemas.microsoft.com/office/drawing/2014/main" id="{66397D42-498C-9E4F-AA76-50FDAED82062}"/>
              </a:ext>
            </a:extLst>
          </p:cNvPr>
          <p:cNvSpPr>
            <a:spLocks noGrp="1"/>
          </p:cNvSpPr>
          <p:nvPr>
            <p:ph idx="1"/>
          </p:nvPr>
        </p:nvSpPr>
        <p:spPr/>
        <p:txBody>
          <a:bodyPr>
            <a:normAutofit/>
          </a:bodyPr>
          <a:lstStyle/>
          <a:p>
            <a:r>
              <a:rPr lang="en-GB" sz="3200" dirty="0"/>
              <a:t>Digestion is helped by the chewing of food carried out by the muscles of mastication, the tongue, and the teeth, and also by the contractions of  of peristalsis and segmentation.</a:t>
            </a:r>
          </a:p>
          <a:p>
            <a:r>
              <a:rPr lang="en-GB" sz="3200" dirty="0"/>
              <a:t>Gastric acid and the production of mucus in the stomach, are essential for the continuation of digestion.</a:t>
            </a:r>
          </a:p>
          <a:p>
            <a:r>
              <a:rPr lang="en-GB" sz="3200" dirty="0"/>
              <a:t>Peristalsis is the rhythmic contraction of muscles that begins in the oesophagus and continues along the wall of the stomach and the rest of the gastrointestinal tract. </a:t>
            </a:r>
          </a:p>
        </p:txBody>
      </p:sp>
    </p:spTree>
    <p:extLst>
      <p:ext uri="{BB962C8B-B14F-4D97-AF65-F5344CB8AC3E}">
        <p14:creationId xmlns:p14="http://schemas.microsoft.com/office/powerpoint/2010/main" val="35509813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E4CEB-D874-DA7F-93FD-1F2C0E444BEB}"/>
              </a:ext>
            </a:extLst>
          </p:cNvPr>
          <p:cNvSpPr>
            <a:spLocks noGrp="1"/>
          </p:cNvSpPr>
          <p:nvPr>
            <p:ph type="title"/>
          </p:nvPr>
        </p:nvSpPr>
        <p:spPr/>
        <p:txBody>
          <a:bodyPr/>
          <a:lstStyle/>
          <a:p>
            <a:r>
              <a:rPr lang="en-GB" dirty="0"/>
              <a:t>C</a:t>
            </a:r>
            <a:r>
              <a:rPr lang="en-KE" dirty="0"/>
              <a:t>ont.</a:t>
            </a:r>
          </a:p>
        </p:txBody>
      </p:sp>
      <p:sp>
        <p:nvSpPr>
          <p:cNvPr id="3" name="Content Placeholder 2">
            <a:extLst>
              <a:ext uri="{FF2B5EF4-FFF2-40B4-BE49-F238E27FC236}">
                <a16:creationId xmlns:a16="http://schemas.microsoft.com/office/drawing/2014/main" id="{093C4F29-3ABB-C4FE-91BA-CBC46F2FCB48}"/>
              </a:ext>
            </a:extLst>
          </p:cNvPr>
          <p:cNvSpPr>
            <a:spLocks noGrp="1"/>
          </p:cNvSpPr>
          <p:nvPr>
            <p:ph idx="1"/>
          </p:nvPr>
        </p:nvSpPr>
        <p:spPr/>
        <p:txBody>
          <a:bodyPr/>
          <a:lstStyle/>
          <a:p>
            <a:r>
              <a:rPr lang="en-GB" sz="3200" dirty="0"/>
              <a:t>This initially results in the production of chyme which when fully broken down in the small intestines is absorbed as chyle into the lymphatic system. </a:t>
            </a:r>
          </a:p>
          <a:p>
            <a:r>
              <a:rPr lang="en-GB" sz="3200" dirty="0"/>
              <a:t>Most of the digestion of food takes place in the small intestine. Water and some minerals are reabsorbed back into the blood in the colon of the large intestine. </a:t>
            </a:r>
          </a:p>
          <a:p>
            <a:r>
              <a:rPr lang="en-GB" sz="3200" dirty="0"/>
              <a:t>The waste products of digestion (faeces) are defected   from the anus via the rectum. </a:t>
            </a:r>
            <a:endParaRPr lang="en-KE" sz="3200" dirty="0"/>
          </a:p>
          <a:p>
            <a:endParaRPr lang="en-KE" dirty="0"/>
          </a:p>
        </p:txBody>
      </p:sp>
    </p:spTree>
    <p:extLst>
      <p:ext uri="{BB962C8B-B14F-4D97-AF65-F5344CB8AC3E}">
        <p14:creationId xmlns:p14="http://schemas.microsoft.com/office/powerpoint/2010/main" val="25466766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603EB-FEF2-224A-8A8D-229198E4ED69}"/>
              </a:ext>
            </a:extLst>
          </p:cNvPr>
          <p:cNvSpPr>
            <a:spLocks noGrp="1"/>
          </p:cNvSpPr>
          <p:nvPr>
            <p:ph type="title"/>
          </p:nvPr>
        </p:nvSpPr>
        <p:spPr/>
        <p:txBody>
          <a:bodyPr/>
          <a:lstStyle/>
          <a:p>
            <a:r>
              <a:rPr lang="en-US" dirty="0"/>
              <a:t>The function of the digestive system</a:t>
            </a:r>
            <a:endParaRPr lang="en-KE" dirty="0"/>
          </a:p>
        </p:txBody>
      </p:sp>
      <p:sp>
        <p:nvSpPr>
          <p:cNvPr id="3" name="Content Placeholder 2">
            <a:extLst>
              <a:ext uri="{FF2B5EF4-FFF2-40B4-BE49-F238E27FC236}">
                <a16:creationId xmlns:a16="http://schemas.microsoft.com/office/drawing/2014/main" id="{E1FB32CA-D41B-1441-8E44-1A05038051AE}"/>
              </a:ext>
            </a:extLst>
          </p:cNvPr>
          <p:cNvSpPr>
            <a:spLocks noGrp="1"/>
          </p:cNvSpPr>
          <p:nvPr>
            <p:ph idx="1"/>
          </p:nvPr>
        </p:nvSpPr>
        <p:spPr/>
        <p:txBody>
          <a:bodyPr>
            <a:normAutofit/>
          </a:bodyPr>
          <a:lstStyle/>
          <a:p>
            <a:r>
              <a:rPr lang="en-US" sz="3600" dirty="0"/>
              <a:t>The main function of the </a:t>
            </a:r>
            <a:r>
              <a:rPr lang="en-US" sz="3600" b="1" dirty="0"/>
              <a:t>digestive system </a:t>
            </a:r>
            <a:r>
              <a:rPr lang="en-US" sz="3600" dirty="0"/>
              <a:t>is to break down the foods you eat into small molecules, release their nutrients, and absorb those nutrients into the body. It is therefore </a:t>
            </a:r>
            <a:r>
              <a:rPr lang="en-GB" sz="3600" dirty="0"/>
              <a:t>digestion and </a:t>
            </a:r>
            <a:r>
              <a:rPr lang="en-GB" sz="3600" b="1" dirty="0"/>
              <a:t>absorption</a:t>
            </a:r>
            <a:endParaRPr lang="en-KE" sz="3600" dirty="0"/>
          </a:p>
          <a:p>
            <a:r>
              <a:rPr lang="en-GB" sz="3600" dirty="0"/>
              <a:t>The digestive system is divided into two major parts: The digestive tract (alimentary canal) which is a continuous tube with two openings: the </a:t>
            </a:r>
            <a:r>
              <a:rPr lang="en-GB" sz="3600" b="1" dirty="0"/>
              <a:t>mouth</a:t>
            </a:r>
            <a:r>
              <a:rPr lang="en-GB" sz="3600" dirty="0"/>
              <a:t> and the </a:t>
            </a:r>
            <a:r>
              <a:rPr lang="en-GB" sz="3600" b="1" dirty="0"/>
              <a:t>anus</a:t>
            </a:r>
            <a:r>
              <a:rPr lang="en-GB" sz="3600" dirty="0"/>
              <a:t>.</a:t>
            </a:r>
          </a:p>
          <a:p>
            <a:pPr marL="0" indent="0">
              <a:buNone/>
            </a:pPr>
            <a:endParaRPr lang="en-KE" dirty="0"/>
          </a:p>
        </p:txBody>
      </p:sp>
    </p:spTree>
    <p:extLst>
      <p:ext uri="{BB962C8B-B14F-4D97-AF65-F5344CB8AC3E}">
        <p14:creationId xmlns:p14="http://schemas.microsoft.com/office/powerpoint/2010/main" val="15709669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8639B-0FED-8D42-B78A-FE9986B3BE41}"/>
              </a:ext>
            </a:extLst>
          </p:cNvPr>
          <p:cNvSpPr>
            <a:spLocks noGrp="1"/>
          </p:cNvSpPr>
          <p:nvPr>
            <p:ph type="title"/>
          </p:nvPr>
        </p:nvSpPr>
        <p:spPr/>
        <p:txBody>
          <a:bodyPr>
            <a:normAutofit fontScale="90000"/>
          </a:bodyPr>
          <a:lstStyle/>
          <a:p>
            <a:br>
              <a:rPr lang="en-US" b="1" dirty="0"/>
            </a:br>
            <a:r>
              <a:rPr lang="en-US" b="1" dirty="0"/>
              <a:t>The Disorders Associated with the Digestive System</a:t>
            </a:r>
            <a:br>
              <a:rPr lang="en-KE" b="1" dirty="0"/>
            </a:br>
            <a:endParaRPr lang="en-KE" dirty="0"/>
          </a:p>
        </p:txBody>
      </p:sp>
      <p:sp>
        <p:nvSpPr>
          <p:cNvPr id="3" name="Content Placeholder 2">
            <a:extLst>
              <a:ext uri="{FF2B5EF4-FFF2-40B4-BE49-F238E27FC236}">
                <a16:creationId xmlns:a16="http://schemas.microsoft.com/office/drawing/2014/main" id="{51317762-BA33-D24D-85A6-C8A4DA886C13}"/>
              </a:ext>
            </a:extLst>
          </p:cNvPr>
          <p:cNvSpPr>
            <a:spLocks noGrp="1"/>
          </p:cNvSpPr>
          <p:nvPr>
            <p:ph idx="1"/>
          </p:nvPr>
        </p:nvSpPr>
        <p:spPr/>
        <p:txBody>
          <a:bodyPr>
            <a:normAutofit/>
          </a:bodyPr>
          <a:lstStyle/>
          <a:p>
            <a:pPr fontAlgn="base"/>
            <a:r>
              <a:rPr lang="en-GB" dirty="0"/>
              <a:t>A digestive disease is any health problem that occurs in the digestive tract. </a:t>
            </a:r>
          </a:p>
          <a:p>
            <a:pPr fontAlgn="base"/>
            <a:r>
              <a:rPr lang="en-GB" dirty="0"/>
              <a:t>Conditions may range from mild to serious. </a:t>
            </a:r>
          </a:p>
          <a:p>
            <a:pPr fontAlgn="base"/>
            <a:r>
              <a:rPr lang="en-GB" dirty="0"/>
              <a:t>Some common problems include heartburn irritable bowel syndrome, duodenum ulcers and lact</a:t>
            </a:r>
            <a:r>
              <a:rPr lang="en-GB" b="1" dirty="0"/>
              <a:t>ose intolerance </a:t>
            </a:r>
          </a:p>
          <a:p>
            <a:pPr fontAlgn="base"/>
            <a:r>
              <a:rPr lang="en-GB" b="1" dirty="0"/>
              <a:t>Heartburn</a:t>
            </a:r>
            <a:r>
              <a:rPr lang="en-GB" dirty="0"/>
              <a:t> is a burning pain in your chest, just behind your breastbone. The pain is often worse after eating, in the evening, or when lying down or bending over. Occasional </a:t>
            </a:r>
            <a:r>
              <a:rPr lang="en-GB" b="1" dirty="0"/>
              <a:t>heartburn</a:t>
            </a:r>
            <a:r>
              <a:rPr lang="en-GB" dirty="0"/>
              <a:t> is common and no cause for alarm. </a:t>
            </a:r>
            <a:br>
              <a:rPr lang="en-GB" dirty="0"/>
            </a:br>
            <a:endParaRPr lang="en-KE" dirty="0"/>
          </a:p>
        </p:txBody>
      </p:sp>
    </p:spTree>
    <p:extLst>
      <p:ext uri="{BB962C8B-B14F-4D97-AF65-F5344CB8AC3E}">
        <p14:creationId xmlns:p14="http://schemas.microsoft.com/office/powerpoint/2010/main" val="15289990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B905E-AB0D-464C-847E-9CCEF821A7B1}"/>
              </a:ext>
            </a:extLst>
          </p:cNvPr>
          <p:cNvSpPr>
            <a:spLocks noGrp="1"/>
          </p:cNvSpPr>
          <p:nvPr>
            <p:ph type="title"/>
          </p:nvPr>
        </p:nvSpPr>
        <p:spPr/>
        <p:txBody>
          <a:bodyPr/>
          <a:lstStyle/>
          <a:p>
            <a:r>
              <a:rPr lang="en-GB" dirty="0"/>
              <a:t>C</a:t>
            </a:r>
            <a:r>
              <a:rPr lang="en-KE" dirty="0"/>
              <a:t>ont. </a:t>
            </a:r>
          </a:p>
        </p:txBody>
      </p:sp>
      <p:sp>
        <p:nvSpPr>
          <p:cNvPr id="3" name="Content Placeholder 2">
            <a:extLst>
              <a:ext uri="{FF2B5EF4-FFF2-40B4-BE49-F238E27FC236}">
                <a16:creationId xmlns:a16="http://schemas.microsoft.com/office/drawing/2014/main" id="{15B456BC-762B-5D42-9640-FDAC31380678}"/>
              </a:ext>
            </a:extLst>
          </p:cNvPr>
          <p:cNvSpPr>
            <a:spLocks noGrp="1"/>
          </p:cNvSpPr>
          <p:nvPr>
            <p:ph idx="1"/>
          </p:nvPr>
        </p:nvSpPr>
        <p:spPr/>
        <p:txBody>
          <a:bodyPr>
            <a:normAutofit fontScale="92500" lnSpcReduction="10000"/>
          </a:bodyPr>
          <a:lstStyle/>
          <a:p>
            <a:r>
              <a:rPr lang="en-GB" b="1" dirty="0"/>
              <a:t>Irritable bowel</a:t>
            </a:r>
            <a:r>
              <a:rPr lang="en-GB" dirty="0"/>
              <a:t> syndrome (</a:t>
            </a:r>
            <a:r>
              <a:rPr lang="en-GB" b="1" dirty="0"/>
              <a:t>IBS</a:t>
            </a:r>
            <a:r>
              <a:rPr lang="en-GB" dirty="0"/>
              <a:t>) is a common disorder that affects the large intestine. </a:t>
            </a:r>
          </a:p>
          <a:p>
            <a:r>
              <a:rPr lang="en-GB" dirty="0"/>
              <a:t>Signs and symptoms include, abdominal pain, bloating, gas, and diarrhoea or constipation, or both. </a:t>
            </a:r>
          </a:p>
          <a:p>
            <a:r>
              <a:rPr lang="en-GB" b="1" dirty="0"/>
              <a:t>IBS</a:t>
            </a:r>
            <a:r>
              <a:rPr lang="en-GB" dirty="0"/>
              <a:t> is a chronic condition that require long term management.</a:t>
            </a:r>
          </a:p>
          <a:p>
            <a:r>
              <a:rPr lang="en-GB" dirty="0"/>
              <a:t>A </a:t>
            </a:r>
            <a:r>
              <a:rPr lang="en-GB" b="1" dirty="0"/>
              <a:t>duodenal ulcer</a:t>
            </a:r>
            <a:r>
              <a:rPr lang="en-GB" dirty="0"/>
              <a:t> is a peptic </a:t>
            </a:r>
            <a:r>
              <a:rPr lang="en-GB" b="1" dirty="0"/>
              <a:t>ulcer</a:t>
            </a:r>
            <a:r>
              <a:rPr lang="en-GB" dirty="0"/>
              <a:t> that develops in the first part of the </a:t>
            </a:r>
            <a:r>
              <a:rPr lang="en-GB" b="1" dirty="0"/>
              <a:t>small intestine</a:t>
            </a:r>
            <a:r>
              <a:rPr lang="en-GB" dirty="0"/>
              <a:t> (</a:t>
            </a:r>
            <a:r>
              <a:rPr lang="en-GB" b="1" dirty="0"/>
              <a:t>duodenum</a:t>
            </a:r>
            <a:r>
              <a:rPr lang="en-GB" dirty="0"/>
              <a:t>).</a:t>
            </a:r>
          </a:p>
          <a:p>
            <a:r>
              <a:rPr lang="en-GB" dirty="0"/>
              <a:t>The main </a:t>
            </a:r>
            <a:r>
              <a:rPr lang="en-GB" b="1" dirty="0"/>
              <a:t>cause</a:t>
            </a:r>
            <a:r>
              <a:rPr lang="en-GB" dirty="0"/>
              <a:t> is infection with bacteria called Helicobacter pylori, or H. pylori. </a:t>
            </a:r>
          </a:p>
          <a:p>
            <a:r>
              <a:rPr lang="en-GB" dirty="0"/>
              <a:t> Some medications can also </a:t>
            </a:r>
            <a:r>
              <a:rPr lang="en-GB" b="1" dirty="0"/>
              <a:t>cause</a:t>
            </a:r>
            <a:r>
              <a:rPr lang="en-GB" dirty="0"/>
              <a:t> a </a:t>
            </a:r>
            <a:r>
              <a:rPr lang="en-GB" b="1" dirty="0"/>
              <a:t>duodenal ulcer</a:t>
            </a:r>
            <a:r>
              <a:rPr lang="en-GB" dirty="0"/>
              <a:t>, particularly anti-inflammatory drugs such as ibuprofen and aspirin.</a:t>
            </a:r>
            <a:endParaRPr lang="en-KE" dirty="0"/>
          </a:p>
        </p:txBody>
      </p:sp>
    </p:spTree>
    <p:extLst>
      <p:ext uri="{BB962C8B-B14F-4D97-AF65-F5344CB8AC3E}">
        <p14:creationId xmlns:p14="http://schemas.microsoft.com/office/powerpoint/2010/main" val="11209217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9B55D-A130-FB4D-8A11-982F9CF18BD7}"/>
              </a:ext>
            </a:extLst>
          </p:cNvPr>
          <p:cNvSpPr>
            <a:spLocks noGrp="1"/>
          </p:cNvSpPr>
          <p:nvPr>
            <p:ph type="title"/>
          </p:nvPr>
        </p:nvSpPr>
        <p:spPr/>
        <p:txBody>
          <a:bodyPr>
            <a:normAutofit fontScale="90000"/>
          </a:bodyPr>
          <a:lstStyle/>
          <a:p>
            <a:br>
              <a:rPr lang="en-US" b="1" dirty="0"/>
            </a:br>
            <a:r>
              <a:rPr lang="en-US" b="1" dirty="0"/>
              <a:t>cont. </a:t>
            </a:r>
            <a:br>
              <a:rPr lang="en-KE" dirty="0"/>
            </a:br>
            <a:endParaRPr lang="en-KE" dirty="0"/>
          </a:p>
        </p:txBody>
      </p:sp>
      <p:sp>
        <p:nvSpPr>
          <p:cNvPr id="3" name="Content Placeholder 2">
            <a:extLst>
              <a:ext uri="{FF2B5EF4-FFF2-40B4-BE49-F238E27FC236}">
                <a16:creationId xmlns:a16="http://schemas.microsoft.com/office/drawing/2014/main" id="{3D4F0F70-794A-B144-9812-811DD9EB5D66}"/>
              </a:ext>
            </a:extLst>
          </p:cNvPr>
          <p:cNvSpPr>
            <a:spLocks noGrp="1"/>
          </p:cNvSpPr>
          <p:nvPr>
            <p:ph idx="1"/>
          </p:nvPr>
        </p:nvSpPr>
        <p:spPr/>
        <p:txBody>
          <a:bodyPr>
            <a:normAutofit/>
          </a:bodyPr>
          <a:lstStyle/>
          <a:p>
            <a:r>
              <a:rPr lang="en-GB" sz="3200" b="1" dirty="0"/>
              <a:t>Lactose intolerance</a:t>
            </a:r>
            <a:r>
              <a:rPr lang="en-GB" sz="3200" dirty="0"/>
              <a:t> is a digestive disorder caused by the inability to digest </a:t>
            </a:r>
            <a:r>
              <a:rPr lang="en-GB" sz="3200" b="1" dirty="0"/>
              <a:t>lactose</a:t>
            </a:r>
            <a:r>
              <a:rPr lang="en-GB" sz="3200" dirty="0"/>
              <a:t>, the main carbohydrate in </a:t>
            </a:r>
            <a:r>
              <a:rPr lang="en-GB" sz="3200" b="1" dirty="0"/>
              <a:t>dairy</a:t>
            </a:r>
            <a:r>
              <a:rPr lang="en-GB" sz="3200" dirty="0"/>
              <a:t> products. </a:t>
            </a:r>
          </a:p>
          <a:p>
            <a:r>
              <a:rPr lang="en-GB" sz="3200" dirty="0"/>
              <a:t>It can cause various symptoms, including bloating, </a:t>
            </a:r>
            <a:r>
              <a:rPr lang="en-GB" sz="3200" dirty="0" err="1"/>
              <a:t>diarrhea</a:t>
            </a:r>
            <a:r>
              <a:rPr lang="en-GB" sz="3200" dirty="0"/>
              <a:t> and abdominal cramps. </a:t>
            </a:r>
          </a:p>
          <a:p>
            <a:r>
              <a:rPr lang="en-GB" sz="3200" dirty="0"/>
              <a:t>People with </a:t>
            </a:r>
            <a:r>
              <a:rPr lang="en-GB" sz="3200" b="1" dirty="0"/>
              <a:t>lactose intolerance</a:t>
            </a:r>
            <a:r>
              <a:rPr lang="en-GB" sz="3200" dirty="0"/>
              <a:t> don't make enough of the enzyme lactase, which is needed to digest </a:t>
            </a:r>
            <a:r>
              <a:rPr lang="en-GB" sz="3200" b="1" dirty="0"/>
              <a:t>dairy</a:t>
            </a:r>
            <a:r>
              <a:rPr lang="en-GB" sz="3200" dirty="0"/>
              <a:t> products.</a:t>
            </a:r>
            <a:endParaRPr lang="en-KE" sz="3200" dirty="0"/>
          </a:p>
        </p:txBody>
      </p:sp>
    </p:spTree>
    <p:extLst>
      <p:ext uri="{BB962C8B-B14F-4D97-AF65-F5344CB8AC3E}">
        <p14:creationId xmlns:p14="http://schemas.microsoft.com/office/powerpoint/2010/main" val="35373177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80306-55A5-B14F-B330-DD5B4B1A974F}"/>
              </a:ext>
            </a:extLst>
          </p:cNvPr>
          <p:cNvSpPr>
            <a:spLocks noGrp="1"/>
          </p:cNvSpPr>
          <p:nvPr>
            <p:ph type="title"/>
          </p:nvPr>
        </p:nvSpPr>
        <p:spPr/>
        <p:txBody>
          <a:bodyPr/>
          <a:lstStyle/>
          <a:p>
            <a:r>
              <a:rPr lang="en-GB" dirty="0"/>
              <a:t>S</a:t>
            </a:r>
            <a:r>
              <a:rPr lang="en-KE" dirty="0"/>
              <a:t>tomach cancer</a:t>
            </a:r>
          </a:p>
        </p:txBody>
      </p:sp>
      <p:sp>
        <p:nvSpPr>
          <p:cNvPr id="3" name="Content Placeholder 2">
            <a:extLst>
              <a:ext uri="{FF2B5EF4-FFF2-40B4-BE49-F238E27FC236}">
                <a16:creationId xmlns:a16="http://schemas.microsoft.com/office/drawing/2014/main" id="{34FEA7E4-A743-B746-8561-8D08363B9F99}"/>
              </a:ext>
            </a:extLst>
          </p:cNvPr>
          <p:cNvSpPr>
            <a:spLocks noGrp="1"/>
          </p:cNvSpPr>
          <p:nvPr>
            <p:ph idx="1"/>
          </p:nvPr>
        </p:nvSpPr>
        <p:spPr/>
        <p:txBody>
          <a:bodyPr/>
          <a:lstStyle/>
          <a:p>
            <a:r>
              <a:rPr lang="en-GB" b="1" dirty="0"/>
              <a:t>Stomach cancer</a:t>
            </a:r>
            <a:r>
              <a:rPr lang="en-GB" dirty="0"/>
              <a:t> is an abnormal growth of cells that begins in the </a:t>
            </a:r>
            <a:r>
              <a:rPr lang="en-GB" b="1" dirty="0"/>
              <a:t>stomach</a:t>
            </a:r>
            <a:r>
              <a:rPr lang="en-GB" dirty="0"/>
              <a:t>. </a:t>
            </a:r>
          </a:p>
          <a:p>
            <a:r>
              <a:rPr lang="en-GB" dirty="0"/>
              <a:t>The </a:t>
            </a:r>
            <a:r>
              <a:rPr lang="en-GB" b="1" dirty="0"/>
              <a:t>stomach</a:t>
            </a:r>
            <a:r>
              <a:rPr lang="en-GB" dirty="0"/>
              <a:t> is a muscular sac located in the upper middle of the </a:t>
            </a:r>
            <a:r>
              <a:rPr lang="en-GB" b="1" dirty="0"/>
              <a:t>abdomen</a:t>
            </a:r>
            <a:r>
              <a:rPr lang="en-GB" dirty="0"/>
              <a:t>, just below the ribs. </a:t>
            </a:r>
          </a:p>
          <a:p>
            <a:r>
              <a:rPr lang="en-GB" dirty="0"/>
              <a:t>The </a:t>
            </a:r>
            <a:r>
              <a:rPr lang="en-GB" b="1" dirty="0"/>
              <a:t>stomach</a:t>
            </a:r>
            <a:r>
              <a:rPr lang="en-GB" dirty="0"/>
              <a:t> receives and holds the food eaten and then helps to break down and digest it.</a:t>
            </a:r>
          </a:p>
          <a:p>
            <a:r>
              <a:rPr lang="en-GB" dirty="0"/>
              <a:t>It is a disease more common in women than in men.</a:t>
            </a:r>
            <a:endParaRPr lang="en-KE" dirty="0"/>
          </a:p>
        </p:txBody>
      </p:sp>
    </p:spTree>
    <p:extLst>
      <p:ext uri="{BB962C8B-B14F-4D97-AF65-F5344CB8AC3E}">
        <p14:creationId xmlns:p14="http://schemas.microsoft.com/office/powerpoint/2010/main" val="34769686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1256</TotalTime>
  <Words>1687</Words>
  <Application>Microsoft Macintosh PowerPoint</Application>
  <PresentationFormat>Widescreen</PresentationFormat>
  <Paragraphs>101</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Arial</vt:lpstr>
      <vt:lpstr>Calibri</vt:lpstr>
      <vt:lpstr>Calibri Light</vt:lpstr>
      <vt:lpstr>Symbol</vt:lpstr>
      <vt:lpstr>Office Theme</vt:lpstr>
      <vt:lpstr>LESSON 3 PPP NOTES</vt:lpstr>
      <vt:lpstr>Introduction </vt:lpstr>
      <vt:lpstr>Cont.</vt:lpstr>
      <vt:lpstr> The endocrine system </vt:lpstr>
      <vt:lpstr>Cont.</vt:lpstr>
      <vt:lpstr>Endocrine disorders</vt:lpstr>
      <vt:lpstr> 2. Thyroid Disorders </vt:lpstr>
      <vt:lpstr> 3. Polycystic Ovary Syndrome (PCOS) </vt:lpstr>
      <vt:lpstr> 4. Low Testosterone </vt:lpstr>
      <vt:lpstr> 5. Osteoporosis </vt:lpstr>
      <vt:lpstr> The Digestive System </vt:lpstr>
      <vt:lpstr>Cont. </vt:lpstr>
      <vt:lpstr>Cont. </vt:lpstr>
      <vt:lpstr>2nd the gastric phase</vt:lpstr>
      <vt:lpstr>Cont.</vt:lpstr>
      <vt:lpstr>Cont.</vt:lpstr>
      <vt:lpstr>The function of the digestive system</vt:lpstr>
      <vt:lpstr> The Disorders Associated with the Digestive System </vt:lpstr>
      <vt:lpstr>Cont. </vt:lpstr>
      <vt:lpstr> cont.  </vt:lpstr>
      <vt:lpstr>Stomach cancer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4 PPP NOTES</dc:title>
  <dc:creator>njeri.muturi2014@gmail.com</dc:creator>
  <cp:lastModifiedBy>njeri.muturi2014@gmail.com</cp:lastModifiedBy>
  <cp:revision>30</cp:revision>
  <dcterms:created xsi:type="dcterms:W3CDTF">2021-02-01T08:05:47Z</dcterms:created>
  <dcterms:modified xsi:type="dcterms:W3CDTF">2023-10-03T08:02:03Z</dcterms:modified>
</cp:coreProperties>
</file>